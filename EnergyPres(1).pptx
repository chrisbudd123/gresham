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63" r:id="rId2"/>
    <p:sldId id="264" r:id="rId3"/>
    <p:sldId id="298" r:id="rId4"/>
    <p:sldId id="305" r:id="rId5"/>
    <p:sldId id="302" r:id="rId6"/>
    <p:sldId id="291" r:id="rId7"/>
    <p:sldId id="265" r:id="rId8"/>
    <p:sldId id="267" r:id="rId9"/>
    <p:sldId id="311" r:id="rId10"/>
    <p:sldId id="273" r:id="rId11"/>
    <p:sldId id="266" r:id="rId12"/>
    <p:sldId id="289" r:id="rId13"/>
    <p:sldId id="304" r:id="rId14"/>
    <p:sldId id="277" r:id="rId15"/>
    <p:sldId id="317" r:id="rId16"/>
    <p:sldId id="316" r:id="rId17"/>
    <p:sldId id="318" r:id="rId18"/>
    <p:sldId id="312" r:id="rId19"/>
    <p:sldId id="309" r:id="rId20"/>
    <p:sldId id="308" r:id="rId21"/>
    <p:sldId id="310" r:id="rId22"/>
    <p:sldId id="307" r:id="rId23"/>
    <p:sldId id="313" r:id="rId24"/>
    <p:sldId id="296" r:id="rId25"/>
    <p:sldId id="275" r:id="rId26"/>
    <p:sldId id="294" r:id="rId27"/>
    <p:sldId id="276" r:id="rId28"/>
    <p:sldId id="303" r:id="rId29"/>
    <p:sldId id="278" r:id="rId30"/>
    <p:sldId id="290" r:id="rId31"/>
    <p:sldId id="299" r:id="rId32"/>
    <p:sldId id="300" r:id="rId33"/>
    <p:sldId id="301" r:id="rId34"/>
    <p:sldId id="268" r:id="rId35"/>
    <p:sldId id="274" r:id="rId36"/>
    <p:sldId id="314" r:id="rId37"/>
    <p:sldId id="292" r:id="rId38"/>
    <p:sldId id="293" r:id="rId39"/>
    <p:sldId id="295" r:id="rId40"/>
    <p:sldId id="297" r:id="rId41"/>
    <p:sldId id="315" r:id="rId42"/>
    <p:sldId id="288"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3236"/>
    <a:srgbClr val="C22C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1" d="100"/>
          <a:sy n="81" d="100"/>
        </p:scale>
        <p:origin x="-752" y="-8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interSettings" Target="printerSettings/printerSettings1.bin"/></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6.emf"/><Relationship Id="rId2" Type="http://schemas.openxmlformats.org/officeDocument/2006/relationships/image" Target="../media/image4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D15DB3-0D96-B74B-8DF4-3A6B5A385AB8}" type="datetimeFigureOut">
              <a:rPr lang="en-US" smtClean="0"/>
              <a:t>16/05/2017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01A6B3-3202-ED4C-BB94-1A698249C40C}" type="slidenum">
              <a:rPr lang="en-US" smtClean="0"/>
              <a:t>‹#›</a:t>
            </a:fld>
            <a:endParaRPr lang="en-US"/>
          </a:p>
        </p:txBody>
      </p:sp>
    </p:spTree>
    <p:extLst>
      <p:ext uri="{BB962C8B-B14F-4D97-AF65-F5344CB8AC3E}">
        <p14:creationId xmlns:p14="http://schemas.microsoft.com/office/powerpoint/2010/main" val="236876659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a:ln/>
        </p:spPr>
      </p:sp>
      <p:sp>
        <p:nvSpPr>
          <p:cNvPr id="163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a:ln/>
        </p:spPr>
      </p:sp>
      <p:sp>
        <p:nvSpPr>
          <p:cNvPr id="163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ChangeArrowheads="1" noTextEdit="1"/>
          </p:cNvSpPr>
          <p:nvPr>
            <p:ph type="sldImg"/>
          </p:nvPr>
        </p:nvSpPr>
        <p:spPr>
          <a:ln/>
        </p:spPr>
      </p:sp>
      <p:sp>
        <p:nvSpPr>
          <p:cNvPr id="184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p:nvPr>
        </p:nvSpPr>
        <p:spPr>
          <a:ln/>
        </p:spPr>
      </p:sp>
      <p:sp>
        <p:nvSpPr>
          <p:cNvPr id="225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026"/>
          <p:cNvSpPr>
            <a:spLocks noGrp="1" noRot="1" noChangeAspect="1" noChangeArrowheads="1" noTextEdit="1"/>
          </p:cNvSpPr>
          <p:nvPr>
            <p:ph type="sldImg"/>
          </p:nvPr>
        </p:nvSpPr>
        <p:spPr>
          <a:ln/>
        </p:spPr>
      </p:sp>
      <p:sp>
        <p:nvSpPr>
          <p:cNvPr id="3481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ln/>
        </p:spPr>
      </p:sp>
      <p:sp>
        <p:nvSpPr>
          <p:cNvPr id="204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026"/>
          <p:cNvSpPr>
            <a:spLocks noGrp="1" noRot="1" noChangeAspect="1" noChangeArrowheads="1" noTextEdit="1"/>
          </p:cNvSpPr>
          <p:nvPr>
            <p:ph type="sldImg"/>
          </p:nvPr>
        </p:nvSpPr>
        <p:spPr>
          <a:ln/>
        </p:spPr>
      </p:sp>
      <p:sp>
        <p:nvSpPr>
          <p:cNvPr id="4301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026"/>
          <p:cNvSpPr>
            <a:spLocks noGrp="1" noRot="1" noChangeAspect="1" noChangeArrowheads="1" noTextEdit="1"/>
          </p:cNvSpPr>
          <p:nvPr>
            <p:ph type="sldImg"/>
          </p:nvPr>
        </p:nvSpPr>
        <p:spPr>
          <a:ln/>
        </p:spPr>
      </p:sp>
      <p:sp>
        <p:nvSpPr>
          <p:cNvPr id="3891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026"/>
          <p:cNvSpPr>
            <a:spLocks noGrp="1" noRot="1" noChangeAspect="1" noChangeArrowheads="1" noTextEdit="1"/>
          </p:cNvSpPr>
          <p:nvPr>
            <p:ph type="sldImg"/>
          </p:nvPr>
        </p:nvSpPr>
        <p:spPr>
          <a:ln/>
        </p:spPr>
      </p:sp>
      <p:sp>
        <p:nvSpPr>
          <p:cNvPr id="4096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026"/>
          <p:cNvSpPr>
            <a:spLocks noGrp="1" noRot="1" noChangeAspect="1" noChangeArrowheads="1" noTextEdit="1"/>
          </p:cNvSpPr>
          <p:nvPr>
            <p:ph type="sldImg"/>
          </p:nvPr>
        </p:nvSpPr>
        <p:spPr>
          <a:ln/>
        </p:spPr>
      </p:sp>
      <p:sp>
        <p:nvSpPr>
          <p:cNvPr id="4505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026"/>
          <p:cNvSpPr>
            <a:spLocks noGrp="1" noRot="1" noChangeAspect="1" noChangeArrowheads="1" noTextEdit="1"/>
          </p:cNvSpPr>
          <p:nvPr>
            <p:ph type="sldImg"/>
          </p:nvPr>
        </p:nvSpPr>
        <p:spPr>
          <a:ln/>
        </p:spPr>
      </p:sp>
      <p:sp>
        <p:nvSpPr>
          <p:cNvPr id="2457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noChangeAspect="1" noChangeArrowheads="1" noTextEdit="1"/>
          </p:cNvSpPr>
          <p:nvPr>
            <p:ph type="sldImg"/>
          </p:nvPr>
        </p:nvSpPr>
        <p:spPr>
          <a:ln/>
        </p:spPr>
      </p:sp>
      <p:sp>
        <p:nvSpPr>
          <p:cNvPr id="368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Rot="1" noChangeAspect="1" noTextEdit="1"/>
          </p:cNvSpPr>
          <p:nvPr>
            <p:ph type="sldImg"/>
          </p:nvPr>
        </p:nvSpPr>
        <p:spPr>
          <a:noFill/>
          <a:ln/>
        </p:spPr>
      </p:sp>
      <p:sp>
        <p:nvSpPr>
          <p:cNvPr id="60418" name="Rectangle 3"/>
          <p:cNvSpPr>
            <a:spLocks noGrp="1"/>
          </p:cNvSpPr>
          <p:nvPr>
            <p:ph type="body" idx="1"/>
          </p:nvPr>
        </p:nvSpPr>
        <p:spPr>
          <a:xfrm>
            <a:off x="685800" y="4341813"/>
            <a:ext cx="54864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atin typeface="Calibri" charset="0"/>
                <a:ea typeface="ＭＳ Ｐゴシック" charset="0"/>
              </a:rPr>
              <a:t>This requires fundamental changes to the way we generate, deliver and consume enegy</a:t>
            </a:r>
          </a:p>
          <a:p>
            <a:r>
              <a:rPr lang="en-GB">
                <a:latin typeface="Calibri" charset="0"/>
                <a:ea typeface="ＭＳ Ｐゴシック" charset="0"/>
              </a:rPr>
              <a:t>Our eneryg landscape is going to change dramatically in the coming decades, responsing to the government’s 2050 carbon target. The change will expect to happen in three key areas</a:t>
            </a:r>
          </a:p>
          <a:p>
            <a:r>
              <a:rPr lang="en-GB">
                <a:latin typeface="Calibri" charset="0"/>
                <a:ea typeface="ＭＳ Ｐゴシック" charset="0"/>
              </a:rPr>
              <a:t>Low carbon generation, low carbon consumption, accommodating the new energy landscope, fit for the  </a:t>
            </a:r>
          </a:p>
          <a:p>
            <a:r>
              <a:rPr lang="en-GB">
                <a:latin typeface="Calibri" charset="0"/>
                <a:ea typeface="ＭＳ Ｐゴシック" charset="0"/>
              </a:rPr>
              <a:t>Modernising the legacy infrastructure to provide greater information, communication and control to substantially improve the supply efficiency</a:t>
            </a:r>
          </a:p>
          <a:p>
            <a:r>
              <a:rPr lang="en-GB">
                <a:latin typeface="Calibri" charset="0"/>
                <a:ea typeface="ＭＳ Ｐゴシック" charset="0"/>
              </a:rPr>
              <a:t>Require fundamentally change the way we generate, deliver and consume electricity</a:t>
            </a:r>
            <a:endParaRPr lang="en-US">
              <a:latin typeface="Calibri" charset="0"/>
              <a:ea typeface="ＭＳ Ｐゴシック"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Rot="1" noChangeAspect="1" noTextEdit="1"/>
          </p:cNvSpPr>
          <p:nvPr>
            <p:ph type="sldImg"/>
          </p:nvPr>
        </p:nvSpPr>
        <p:spPr>
          <a:noFill/>
          <a:ln/>
        </p:spPr>
      </p:sp>
      <p:sp>
        <p:nvSpPr>
          <p:cNvPr id="93186" name="Rectangle 3"/>
          <p:cNvSpPr>
            <a:spLocks noGrp="1"/>
          </p:cNvSpPr>
          <p:nvPr>
            <p:ph type="body" idx="1"/>
          </p:nvPr>
        </p:nvSpPr>
        <p:spPr>
          <a:xfrm>
            <a:off x="685800" y="4341813"/>
            <a:ext cx="5486400"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atin typeface="Calibri" charset="0"/>
                <a:ea typeface="ＭＳ Ｐゴシック" charset="0"/>
              </a:rPr>
              <a:t>In 2010, Decc published 7 pathways to achieve the 80% carbon reduction, Poyry and bath were the first to examine the impications to the electrical supply system and quantify its cost.  We picked alpha pathways, because it has the most ambitious plans for renewable expansion and high level of heat and transport demand</a:t>
            </a:r>
          </a:p>
          <a:p>
            <a:r>
              <a:rPr lang="en-GB">
                <a:latin typeface="Calibri" charset="0"/>
                <a:ea typeface="ＭＳ Ｐゴシック" charset="0"/>
              </a:rPr>
              <a:t>For demand, electrification will push up the demand from the current 300TWh to 505 in 2030 and more than double by 2050. </a:t>
            </a:r>
          </a:p>
          <a:p>
            <a:r>
              <a:rPr lang="en-GB">
                <a:latin typeface="Calibri" charset="0"/>
                <a:ea typeface="ＭＳ Ｐゴシック" charset="0"/>
              </a:rPr>
              <a:t>On the generation side, we need to substantially increase our renewables generation. For example, </a:t>
            </a:r>
          </a:p>
          <a:p>
            <a:r>
              <a:rPr lang="en-GB">
                <a:latin typeface="Calibri" charset="0"/>
                <a:ea typeface="ＭＳ Ｐゴシック" charset="0"/>
              </a:rPr>
              <a:t>The traditional coal and gas willl almost dispear completely. Coal generation with carbon capture and storage will develop to 40GW</a:t>
            </a:r>
          </a:p>
          <a:p>
            <a:r>
              <a:rPr lang="en-GB">
                <a:latin typeface="Calibri" charset="0"/>
                <a:ea typeface="ＭＳ Ｐゴシック" charset="0"/>
              </a:rPr>
              <a:t>If we carry on to operate and plan the low carbon system with the current high carbon technologies, the cost will be in the order of £158billions</a:t>
            </a:r>
          </a:p>
          <a:p>
            <a:r>
              <a:rPr lang="en-GB">
                <a:latin typeface="Calibri" charset="0"/>
                <a:ea typeface="ＭＳ Ｐゴシック" charset="0"/>
              </a:rPr>
              <a:t>Low carbon technologies, such as wind and nuclear, can help to reduce our carbon emissions. However,</a:t>
            </a:r>
          </a:p>
          <a:p>
            <a:r>
              <a:rPr lang="en-GB">
                <a:latin typeface="Calibri" charset="0"/>
                <a:ea typeface="ＭＳ Ｐゴシック" charset="0"/>
              </a:rPr>
              <a:t>integrating high levels of these technologies with the present `predict and provide' electricity supply paradigm could lead to</a:t>
            </a:r>
          </a:p>
          <a:p>
            <a:r>
              <a:rPr lang="en-GB">
                <a:latin typeface="Calibri" charset="0"/>
                <a:ea typeface="ＭＳ Ｐゴシック" charset="0"/>
              </a:rPr>
              <a:t>system solutions that are either very expensive or potentially not resilient and secure.</a:t>
            </a:r>
          </a:p>
          <a:p>
            <a:endParaRPr lang="en-GB">
              <a:latin typeface="Calibri" charset="0"/>
              <a:ea typeface="ＭＳ Ｐゴシック" charset="0"/>
            </a:endParaRPr>
          </a:p>
          <a:p>
            <a:endParaRPr lang="en-GB">
              <a:latin typeface="Calibri" charset="0"/>
              <a:ea typeface="ＭＳ Ｐゴシック" charset="0"/>
            </a:endParaRPr>
          </a:p>
          <a:p>
            <a:r>
              <a:rPr lang="en-GB">
                <a:latin typeface="Calibri" charset="0"/>
                <a:ea typeface="ＭＳ Ｐゴシック" charset="0"/>
              </a:rPr>
              <a:t>Low carbon generation, low carbon consumption, accommodating the new energy landscope, </a:t>
            </a:r>
          </a:p>
          <a:p>
            <a:endParaRPr lang="en-GB">
              <a:latin typeface="Calibri" charset="0"/>
              <a:ea typeface="ＭＳ Ｐゴシック" charset="0"/>
            </a:endParaRPr>
          </a:p>
          <a:p>
            <a:r>
              <a:rPr lang="en-GB">
                <a:latin typeface="Calibri" charset="0"/>
                <a:ea typeface="ＭＳ Ｐゴシック" charset="0"/>
              </a:rPr>
              <a:t>Require fundamentally change the way we generate, deliver and consume electricity</a:t>
            </a:r>
            <a:endParaRPr lang="en-US">
              <a:latin typeface="Calibri" charset="0"/>
              <a:ea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p>
            <a:fld id="{240F9CF4-DE19-1E4E-B600-6E1DA991B9DD}" type="datetimeFigureOut">
              <a:rPr lang="en-US" smtClean="0"/>
              <a:t>16/05/2017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3643321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240F9CF4-DE19-1E4E-B600-6E1DA991B9DD}" type="datetimeFigureOut">
              <a:rPr lang="en-US" smtClean="0"/>
              <a:t>16/05/2017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626693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240F9CF4-DE19-1E4E-B600-6E1DA991B9DD}" type="datetimeFigureOut">
              <a:rPr lang="en-US" smtClean="0"/>
              <a:t>16/05/2017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2219982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240F9CF4-DE19-1E4E-B600-6E1DA991B9DD}" type="datetimeFigureOut">
              <a:rPr lang="en-US" smtClean="0"/>
              <a:t>16/05/2017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814835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240F9CF4-DE19-1E4E-B600-6E1DA991B9DD}" type="datetimeFigureOut">
              <a:rPr lang="en-US" smtClean="0"/>
              <a:t>16/05/2017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359962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240F9CF4-DE19-1E4E-B600-6E1DA991B9DD}" type="datetimeFigureOut">
              <a:rPr lang="en-US" smtClean="0"/>
              <a:t>16/05/2017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4130208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F9CF4-DE19-1E4E-B600-6E1DA991B9DD}" type="datetimeFigureOut">
              <a:rPr lang="en-US" smtClean="0"/>
              <a:t>16/05/2017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1681887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240F9CF4-DE19-1E4E-B600-6E1DA991B9DD}" type="datetimeFigureOut">
              <a:rPr lang="en-US" smtClean="0"/>
              <a:t>16/05/2017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365603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240F9CF4-DE19-1E4E-B600-6E1DA991B9DD}" type="datetimeFigureOut">
              <a:rPr lang="en-US" smtClean="0"/>
              <a:t>16/05/2017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236688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240F9CF4-DE19-1E4E-B600-6E1DA991B9DD}" type="datetimeFigureOut">
              <a:rPr lang="en-US" smtClean="0"/>
              <a:t>16/05/2017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305183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240F9CF4-DE19-1E4E-B600-6E1DA991B9DD}" type="datetimeFigureOut">
              <a:rPr lang="en-US" smtClean="0"/>
              <a:t>16/05/2017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BCD0DB-A35E-114E-AEA3-D0998794ACBE}" type="slidenum">
              <a:rPr lang="en-US" smtClean="0"/>
              <a:t>‹#›</a:t>
            </a:fld>
            <a:endParaRPr lang="en-US"/>
          </a:p>
        </p:txBody>
      </p:sp>
    </p:spTree>
    <p:extLst>
      <p:ext uri="{BB962C8B-B14F-4D97-AF65-F5344CB8AC3E}">
        <p14:creationId xmlns:p14="http://schemas.microsoft.com/office/powerpoint/2010/main" val="199260392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0F9CF4-DE19-1E4E-B600-6E1DA991B9DD}" type="datetimeFigureOut">
              <a:rPr lang="en-US" smtClean="0"/>
              <a:t>16/05/2017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CD0DB-A35E-114E-AEA3-D0998794ACBE}" type="slidenum">
              <a:rPr lang="en-US" smtClean="0"/>
              <a:t>‹#›</a:t>
            </a:fld>
            <a:endParaRPr lang="en-US"/>
          </a:p>
        </p:txBody>
      </p:sp>
    </p:spTree>
    <p:extLst>
      <p:ext uri="{BB962C8B-B14F-4D97-AF65-F5344CB8AC3E}">
        <p14:creationId xmlns:p14="http://schemas.microsoft.com/office/powerpoint/2010/main" val="3765125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jpeg"/><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4"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gif"/></Relationships>
</file>

<file path=ppt/slides/_rels/slide24.xml.rels><?xml version="1.0" encoding="UTF-8" standalone="yes"?>
<Relationships xmlns="http://schemas.openxmlformats.org/package/2006/relationships"><Relationship Id="rId3" Type="http://schemas.openxmlformats.org/officeDocument/2006/relationships/image" Target="../media/image40.emf"/><Relationship Id="rId4" Type="http://schemas.openxmlformats.org/officeDocument/2006/relationships/image" Target="../media/image41.emf"/><Relationship Id="rId5" Type="http://schemas.openxmlformats.org/officeDocument/2006/relationships/image" Target="../media/image42.emf"/><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3.jpeg"/><Relationship Id="rId4" Type="http://schemas.openxmlformats.org/officeDocument/2006/relationships/image" Target="../media/image44.emf"/><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jp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4" Type="http://schemas.openxmlformats.org/officeDocument/2006/relationships/oleObject" Target="../embeddings/oleObject1.bin"/><Relationship Id="rId5" Type="http://schemas.openxmlformats.org/officeDocument/2006/relationships/image" Target="../media/image46.emf"/><Relationship Id="rId6" Type="http://schemas.openxmlformats.org/officeDocument/2006/relationships/oleObject" Target="../embeddings/oleObject2.bin"/><Relationship Id="rId7" Type="http://schemas.openxmlformats.org/officeDocument/2006/relationships/image" Target="../media/image47.emf"/><Relationship Id="rId8" Type="http://schemas.openxmlformats.org/officeDocument/2006/relationships/image" Target="../media/image48.emf"/><Relationship Id="rId9" Type="http://schemas.openxmlformats.org/officeDocument/2006/relationships/image" Target="../media/image49.emf"/><Relationship Id="rId10" Type="http://schemas.openxmlformats.org/officeDocument/2006/relationships/image" Target="../media/image50.emf"/><Relationship Id="rId11" Type="http://schemas.openxmlformats.org/officeDocument/2006/relationships/image" Target="../media/image51.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emf"/><Relationship Id="rId3" Type="http://schemas.openxmlformats.org/officeDocument/2006/relationships/image" Target="../media/image53.emf"/></Relationships>
</file>

<file path=ppt/slides/_rels/slide29.xml.rels><?xml version="1.0" encoding="UTF-8" standalone="yes"?>
<Relationships xmlns="http://schemas.openxmlformats.org/package/2006/relationships"><Relationship Id="rId3" Type="http://schemas.openxmlformats.org/officeDocument/2006/relationships/image" Target="../media/image54.emf"/><Relationship Id="rId4" Type="http://schemas.openxmlformats.org/officeDocument/2006/relationships/image" Target="../media/image55.emf"/><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eg"/></Relationships>
</file>

<file path=ppt/slides/_rels/slide31.xml.rels><?xml version="1.0" encoding="UTF-8" standalone="yes"?>
<Relationships xmlns="http://schemas.openxmlformats.org/package/2006/relationships"><Relationship Id="rId3" Type="http://schemas.openxmlformats.org/officeDocument/2006/relationships/image" Target="../media/image58.emf"/><Relationship Id="rId4" Type="http://schemas.openxmlformats.org/officeDocument/2006/relationships/image" Target="../media/image59.emf"/><Relationship Id="rId1" Type="http://schemas.openxmlformats.org/officeDocument/2006/relationships/slideLayout" Target="../slideLayouts/slideLayout7.xml"/><Relationship Id="rId2" Type="http://schemas.openxmlformats.org/officeDocument/2006/relationships/image" Target="../media/image57.emf"/></Relationships>
</file>

<file path=ppt/slides/_rels/slide32.xml.rels><?xml version="1.0" encoding="UTF-8" standalone="yes"?>
<Relationships xmlns="http://schemas.openxmlformats.org/package/2006/relationships"><Relationship Id="rId3" Type="http://schemas.openxmlformats.org/officeDocument/2006/relationships/image" Target="../media/image61.emf"/><Relationship Id="rId4" Type="http://schemas.openxmlformats.org/officeDocument/2006/relationships/image" Target="../media/image62.emf"/><Relationship Id="rId5" Type="http://schemas.openxmlformats.org/officeDocument/2006/relationships/image" Target="../media/image63.emf"/><Relationship Id="rId1" Type="http://schemas.openxmlformats.org/officeDocument/2006/relationships/slideLayout" Target="../slideLayouts/slideLayout7.xml"/><Relationship Id="rId2" Type="http://schemas.openxmlformats.org/officeDocument/2006/relationships/image" Target="../media/image60.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jpg"/></Relationships>
</file>

<file path=ppt/slides/_rels/slide37.xml.rels><?xml version="1.0" encoding="UTF-8" standalone="yes"?>
<Relationships xmlns="http://schemas.openxmlformats.org/package/2006/relationships"><Relationship Id="rId3" Type="http://schemas.openxmlformats.org/officeDocument/2006/relationships/image" Target="../media/image68.jpeg"/><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wmf"/><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493721" y="339669"/>
            <a:ext cx="6925096" cy="1949598"/>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1289907" y="464114"/>
            <a:ext cx="6925096" cy="1569660"/>
          </a:xfrm>
          <a:prstGeom prst="rect">
            <a:avLst/>
          </a:prstGeom>
          <a:noFill/>
        </p:spPr>
        <p:txBody>
          <a:bodyPr wrap="square" rtlCol="0">
            <a:spAutoFit/>
          </a:bodyPr>
          <a:lstStyle/>
          <a:p>
            <a:r>
              <a:rPr lang="en-US" sz="3200" dirty="0" smtClean="0">
                <a:solidFill>
                  <a:srgbClr val="FF0000"/>
                </a:solidFill>
              </a:rPr>
              <a:t>            </a:t>
            </a:r>
            <a:r>
              <a:rPr lang="en-US" sz="3200" smtClean="0">
                <a:solidFill>
                  <a:srgbClr val="FF0000"/>
                </a:solidFill>
              </a:rPr>
              <a:t> </a:t>
            </a:r>
            <a:r>
              <a:rPr lang="en-US" sz="3200" smtClean="0">
                <a:solidFill>
                  <a:srgbClr val="FF0000"/>
                </a:solidFill>
              </a:rPr>
              <a:t>The Energetic Mathematician</a:t>
            </a:r>
            <a:endParaRPr lang="en-US" sz="3200" dirty="0" smtClean="0">
              <a:solidFill>
                <a:srgbClr val="FF0000"/>
              </a:solidFill>
            </a:endParaRPr>
          </a:p>
          <a:p>
            <a:endParaRPr lang="en-US" sz="3200" dirty="0">
              <a:solidFill>
                <a:srgbClr val="FF0000"/>
              </a:solidFill>
            </a:endParaRPr>
          </a:p>
          <a:p>
            <a:r>
              <a:rPr lang="en-US" sz="3200" dirty="0" smtClean="0"/>
              <a:t>                            </a:t>
            </a:r>
            <a:r>
              <a:rPr lang="en-US" sz="3200" dirty="0" smtClean="0">
                <a:solidFill>
                  <a:srgbClr val="0000FF"/>
                </a:solidFill>
              </a:rPr>
              <a:t>Chris Budd</a:t>
            </a:r>
            <a:endParaRPr lang="en-US" sz="3200" dirty="0">
              <a:solidFill>
                <a:srgbClr val="0000FF"/>
              </a:solidFill>
            </a:endParaRPr>
          </a:p>
        </p:txBody>
      </p:sp>
      <p:pic>
        <p:nvPicPr>
          <p:cNvPr id="7" name="Picture 1" descr="logo_sq_crest+text_larg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5032" y="4573977"/>
            <a:ext cx="2205037"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7080" y="5340636"/>
            <a:ext cx="3700463"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9" name="Picture 2" descr="6EeRIu1z.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76563" y="5229225"/>
            <a:ext cx="1379537"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pylon_2277655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1210" y="2732423"/>
            <a:ext cx="3610533" cy="225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051822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520" y="235198"/>
            <a:ext cx="8591363" cy="461665"/>
          </a:xfrm>
          <a:prstGeom prst="rect">
            <a:avLst/>
          </a:prstGeom>
          <a:noFill/>
        </p:spPr>
        <p:txBody>
          <a:bodyPr wrap="square" rtlCol="0">
            <a:spAutoFit/>
          </a:bodyPr>
          <a:lstStyle/>
          <a:p>
            <a:r>
              <a:rPr lang="en-US" sz="2400" dirty="0" smtClean="0">
                <a:solidFill>
                  <a:srgbClr val="FF0000"/>
                </a:solidFill>
              </a:rPr>
              <a:t>                                 We all require energy to live</a:t>
            </a:r>
            <a:endParaRPr lang="en-US" sz="2400" dirty="0">
              <a:solidFill>
                <a:srgbClr val="FF0000"/>
              </a:solidFill>
            </a:endParaRPr>
          </a:p>
        </p:txBody>
      </p:sp>
      <p:sp>
        <p:nvSpPr>
          <p:cNvPr id="3" name="TextBox 2"/>
          <p:cNvSpPr txBox="1"/>
          <p:nvPr/>
        </p:nvSpPr>
        <p:spPr>
          <a:xfrm>
            <a:off x="752528" y="1034868"/>
            <a:ext cx="5157953" cy="4893647"/>
          </a:xfrm>
          <a:prstGeom prst="rect">
            <a:avLst/>
          </a:prstGeom>
          <a:noFill/>
        </p:spPr>
        <p:txBody>
          <a:bodyPr wrap="square" rtlCol="0">
            <a:spAutoFit/>
          </a:bodyPr>
          <a:lstStyle/>
          <a:p>
            <a:r>
              <a:rPr lang="en-US" sz="2400" dirty="0" smtClean="0">
                <a:solidFill>
                  <a:srgbClr val="3366FF"/>
                </a:solidFill>
              </a:rPr>
              <a:t>Sun</a:t>
            </a:r>
          </a:p>
          <a:p>
            <a:endParaRPr lang="en-US" sz="2400" dirty="0">
              <a:solidFill>
                <a:srgbClr val="3366FF"/>
              </a:solidFill>
            </a:endParaRPr>
          </a:p>
          <a:p>
            <a:endParaRPr lang="en-US" sz="2400" dirty="0" smtClean="0">
              <a:solidFill>
                <a:srgbClr val="3366FF"/>
              </a:solidFill>
            </a:endParaRPr>
          </a:p>
          <a:p>
            <a:endParaRPr lang="en-US" sz="2400" dirty="0">
              <a:solidFill>
                <a:srgbClr val="3366FF"/>
              </a:solidFill>
            </a:endParaRPr>
          </a:p>
          <a:p>
            <a:r>
              <a:rPr lang="en-US" sz="2400" dirty="0" smtClean="0">
                <a:solidFill>
                  <a:srgbClr val="3366FF"/>
                </a:solidFill>
              </a:rPr>
              <a:t>                                                              Fire</a:t>
            </a:r>
          </a:p>
          <a:p>
            <a:endParaRPr lang="en-US" sz="2400" dirty="0">
              <a:solidFill>
                <a:srgbClr val="3366FF"/>
              </a:solidFill>
            </a:endParaRPr>
          </a:p>
          <a:p>
            <a:endParaRPr lang="en-US" sz="2400" dirty="0" smtClean="0">
              <a:solidFill>
                <a:srgbClr val="3366FF"/>
              </a:solidFill>
            </a:endParaRPr>
          </a:p>
          <a:p>
            <a:endParaRPr lang="en-US" sz="2400" dirty="0">
              <a:solidFill>
                <a:srgbClr val="3366FF"/>
              </a:solidFill>
            </a:endParaRPr>
          </a:p>
          <a:p>
            <a:endParaRPr lang="en-US" sz="2400" dirty="0" smtClean="0">
              <a:solidFill>
                <a:srgbClr val="3366FF"/>
              </a:solidFill>
            </a:endParaRPr>
          </a:p>
          <a:p>
            <a:r>
              <a:rPr lang="en-US" sz="2400" dirty="0" smtClean="0">
                <a:solidFill>
                  <a:srgbClr val="3366FF"/>
                </a:solidFill>
              </a:rPr>
              <a:t>Water</a:t>
            </a:r>
          </a:p>
          <a:p>
            <a:endParaRPr lang="en-US" sz="2400" dirty="0">
              <a:solidFill>
                <a:srgbClr val="3366FF"/>
              </a:solidFill>
            </a:endParaRPr>
          </a:p>
          <a:p>
            <a:endParaRPr lang="en-US" sz="2400" dirty="0">
              <a:solidFill>
                <a:srgbClr val="3366FF"/>
              </a:solidFill>
            </a:endParaRPr>
          </a:p>
          <a:p>
            <a:r>
              <a:rPr lang="en-US" sz="2400" dirty="0" smtClean="0">
                <a:solidFill>
                  <a:srgbClr val="3366FF"/>
                </a:solidFill>
              </a:rPr>
              <a:t>                                                            Steam</a:t>
            </a:r>
            <a:endParaRPr lang="en-US" sz="2400" dirty="0">
              <a:solidFill>
                <a:srgbClr val="3366FF"/>
              </a:solidFill>
            </a:endParaRPr>
          </a:p>
        </p:txBody>
      </p:sp>
      <p:pic>
        <p:nvPicPr>
          <p:cNvPr id="5" name="Picture 4" descr="article-2587072-1C8144B900000578-371_634x45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649" y="941188"/>
            <a:ext cx="2371247" cy="1698022"/>
          </a:xfrm>
          <a:prstGeom prst="rect">
            <a:avLst/>
          </a:prstGeom>
        </p:spPr>
      </p:pic>
      <p:pic>
        <p:nvPicPr>
          <p:cNvPr id="6" name="Picture 5" descr="steam_power_1.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7285" y="4672613"/>
            <a:ext cx="2899599" cy="1841637"/>
          </a:xfrm>
          <a:prstGeom prst="rect">
            <a:avLst/>
          </a:prstGeom>
        </p:spPr>
      </p:pic>
      <p:pic>
        <p:nvPicPr>
          <p:cNvPr id="7" name="Picture 6" descr="hydro-power.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9191" y="3575014"/>
            <a:ext cx="2371247" cy="2608745"/>
          </a:xfrm>
          <a:prstGeom prst="rect">
            <a:avLst/>
          </a:prstGeom>
        </p:spPr>
      </p:pic>
      <p:pic>
        <p:nvPicPr>
          <p:cNvPr id="8" name="Picture 7" descr="hqdefault.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00737" y="1575087"/>
            <a:ext cx="2837659" cy="2128245"/>
          </a:xfrm>
          <a:prstGeom prst="rect">
            <a:avLst/>
          </a:prstGeom>
        </p:spPr>
      </p:pic>
    </p:spTree>
    <p:extLst>
      <p:ext uri="{BB962C8B-B14F-4D97-AF65-F5344CB8AC3E}">
        <p14:creationId xmlns:p14="http://schemas.microsoft.com/office/powerpoint/2010/main" val="31234053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5" descr="pylon_2277655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000" y="2222528"/>
            <a:ext cx="5156200" cy="321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1536435" y="580157"/>
            <a:ext cx="9281180" cy="830997"/>
          </a:xfrm>
          <a:prstGeom prst="rect">
            <a:avLst/>
          </a:prstGeom>
          <a:noFill/>
        </p:spPr>
        <p:txBody>
          <a:bodyPr wrap="square" rtlCol="0">
            <a:spAutoFit/>
          </a:bodyPr>
          <a:lstStyle/>
          <a:p>
            <a:r>
              <a:rPr lang="en-US" sz="2400" dirty="0" smtClean="0">
                <a:solidFill>
                  <a:srgbClr val="FF0000"/>
                </a:solidFill>
              </a:rPr>
              <a:t>Majority of the world’s energy is now supplied</a:t>
            </a:r>
          </a:p>
          <a:p>
            <a:r>
              <a:rPr lang="en-US" sz="2400" dirty="0">
                <a:solidFill>
                  <a:srgbClr val="FF0000"/>
                </a:solidFill>
              </a:rPr>
              <a:t> </a:t>
            </a:r>
            <a:r>
              <a:rPr lang="en-US" sz="2400" dirty="0" smtClean="0">
                <a:solidFill>
                  <a:srgbClr val="FF0000"/>
                </a:solidFill>
              </a:rPr>
              <a:t>                by high voltage electricity</a:t>
            </a:r>
            <a:endParaRPr lang="en-US" sz="2400" dirty="0">
              <a:solidFill>
                <a:srgbClr val="FF0000"/>
              </a:solidFill>
            </a:endParaRPr>
          </a:p>
        </p:txBody>
      </p:sp>
    </p:spTree>
    <p:extLst>
      <p:ext uri="{BB962C8B-B14F-4D97-AF65-F5344CB8AC3E}">
        <p14:creationId xmlns:p14="http://schemas.microsoft.com/office/powerpoint/2010/main" val="34766247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araday.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253" y="377230"/>
            <a:ext cx="3590173" cy="2390729"/>
          </a:xfrm>
          <a:prstGeom prst="rect">
            <a:avLst/>
          </a:prstGeom>
        </p:spPr>
      </p:pic>
      <p:pic>
        <p:nvPicPr>
          <p:cNvPr id="5" name="Picture 4" descr="thomas-edison-9284349-1-40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2861" y="2070640"/>
            <a:ext cx="2811692" cy="2811692"/>
          </a:xfrm>
          <a:prstGeom prst="rect">
            <a:avLst/>
          </a:prstGeom>
        </p:spPr>
      </p:pic>
      <p:pic>
        <p:nvPicPr>
          <p:cNvPr id="6" name="Picture 5" descr="Nikola-tesla-1.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1245" y="3546341"/>
            <a:ext cx="2696559" cy="2696559"/>
          </a:xfrm>
          <a:prstGeom prst="rect">
            <a:avLst/>
          </a:prstGeom>
        </p:spPr>
      </p:pic>
      <p:sp>
        <p:nvSpPr>
          <p:cNvPr id="7" name="TextBox 6"/>
          <p:cNvSpPr txBox="1"/>
          <p:nvPr/>
        </p:nvSpPr>
        <p:spPr>
          <a:xfrm>
            <a:off x="2320293" y="2696941"/>
            <a:ext cx="3355021" cy="461665"/>
          </a:xfrm>
          <a:prstGeom prst="rect">
            <a:avLst/>
          </a:prstGeom>
          <a:noFill/>
        </p:spPr>
        <p:txBody>
          <a:bodyPr wrap="square" rtlCol="0">
            <a:spAutoFit/>
          </a:bodyPr>
          <a:lstStyle/>
          <a:p>
            <a:r>
              <a:rPr lang="en-US" sz="2400" dirty="0" smtClean="0">
                <a:solidFill>
                  <a:srgbClr val="FF0000"/>
                </a:solidFill>
              </a:rPr>
              <a:t>Faraday</a:t>
            </a:r>
            <a:endParaRPr lang="en-US" sz="2400" dirty="0">
              <a:solidFill>
                <a:srgbClr val="FF0000"/>
              </a:solidFill>
            </a:endParaRPr>
          </a:p>
        </p:txBody>
      </p:sp>
      <p:sp>
        <p:nvSpPr>
          <p:cNvPr id="8" name="TextBox 7"/>
          <p:cNvSpPr txBox="1"/>
          <p:nvPr/>
        </p:nvSpPr>
        <p:spPr>
          <a:xfrm>
            <a:off x="6020225" y="5017571"/>
            <a:ext cx="3339343" cy="461665"/>
          </a:xfrm>
          <a:prstGeom prst="rect">
            <a:avLst/>
          </a:prstGeom>
          <a:noFill/>
        </p:spPr>
        <p:txBody>
          <a:bodyPr wrap="square" rtlCol="0">
            <a:spAutoFit/>
          </a:bodyPr>
          <a:lstStyle/>
          <a:p>
            <a:r>
              <a:rPr lang="en-US" sz="2400" dirty="0" smtClean="0">
                <a:solidFill>
                  <a:srgbClr val="FF0000"/>
                </a:solidFill>
              </a:rPr>
              <a:t>Edison</a:t>
            </a:r>
            <a:endParaRPr lang="en-US" sz="2400" dirty="0">
              <a:solidFill>
                <a:srgbClr val="FF0000"/>
              </a:solidFill>
            </a:endParaRPr>
          </a:p>
        </p:txBody>
      </p:sp>
      <p:sp>
        <p:nvSpPr>
          <p:cNvPr id="9" name="TextBox 8"/>
          <p:cNvSpPr txBox="1"/>
          <p:nvPr/>
        </p:nvSpPr>
        <p:spPr>
          <a:xfrm>
            <a:off x="2241919" y="6350362"/>
            <a:ext cx="2602493" cy="461665"/>
          </a:xfrm>
          <a:prstGeom prst="rect">
            <a:avLst/>
          </a:prstGeom>
          <a:noFill/>
        </p:spPr>
        <p:txBody>
          <a:bodyPr wrap="square" rtlCol="0">
            <a:spAutoFit/>
          </a:bodyPr>
          <a:lstStyle/>
          <a:p>
            <a:r>
              <a:rPr lang="en-US" sz="2400" dirty="0" smtClean="0">
                <a:solidFill>
                  <a:srgbClr val="FF0000"/>
                </a:solidFill>
              </a:rPr>
              <a:t>Tesla</a:t>
            </a:r>
            <a:endParaRPr lang="en-US" sz="2400" dirty="0">
              <a:solidFill>
                <a:srgbClr val="FF0000"/>
              </a:solidFill>
            </a:endParaRPr>
          </a:p>
        </p:txBody>
      </p:sp>
    </p:spTree>
    <p:extLst>
      <p:ext uri="{BB962C8B-B14F-4D97-AF65-F5344CB8AC3E}">
        <p14:creationId xmlns:p14="http://schemas.microsoft.com/office/powerpoint/2010/main" val="290082861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268" y="1881589"/>
            <a:ext cx="8389655" cy="3277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768206" y="595837"/>
            <a:ext cx="8375794" cy="461665"/>
          </a:xfrm>
          <a:prstGeom prst="rect">
            <a:avLst/>
          </a:prstGeom>
          <a:noFill/>
        </p:spPr>
        <p:txBody>
          <a:bodyPr wrap="square" rtlCol="0">
            <a:spAutoFit/>
          </a:bodyPr>
          <a:lstStyle/>
          <a:p>
            <a:r>
              <a:rPr lang="en-US" sz="2400" dirty="0" smtClean="0">
                <a:solidFill>
                  <a:srgbClr val="FF0000"/>
                </a:solidFill>
              </a:rPr>
              <a:t>Projected huge increase in the demand for electricity in the UK</a:t>
            </a:r>
            <a:endParaRPr lang="en-US" sz="2400" dirty="0">
              <a:solidFill>
                <a:srgbClr val="FF0000"/>
              </a:solidFill>
            </a:endParaRPr>
          </a:p>
        </p:txBody>
      </p:sp>
      <p:sp>
        <p:nvSpPr>
          <p:cNvPr id="6" name="TextBox 5"/>
          <p:cNvSpPr txBox="1"/>
          <p:nvPr/>
        </p:nvSpPr>
        <p:spPr>
          <a:xfrm>
            <a:off x="1771577" y="5582047"/>
            <a:ext cx="5847770" cy="461665"/>
          </a:xfrm>
          <a:prstGeom prst="rect">
            <a:avLst/>
          </a:prstGeom>
          <a:noFill/>
        </p:spPr>
        <p:txBody>
          <a:bodyPr wrap="square" rtlCol="0">
            <a:spAutoFit/>
          </a:bodyPr>
          <a:lstStyle/>
          <a:p>
            <a:r>
              <a:rPr lang="en-US" sz="2400" dirty="0" smtClean="0">
                <a:solidFill>
                  <a:srgbClr val="FF0000"/>
                </a:solidFill>
              </a:rPr>
              <a:t>               Currently around 80GW</a:t>
            </a:r>
            <a:endParaRPr lang="en-US" sz="2400" dirty="0">
              <a:solidFill>
                <a:srgbClr val="FF0000"/>
              </a:solidFill>
            </a:endParaRPr>
          </a:p>
        </p:txBody>
      </p:sp>
    </p:spTree>
    <p:extLst>
      <p:ext uri="{BB962C8B-B14F-4D97-AF65-F5344CB8AC3E}">
        <p14:creationId xmlns:p14="http://schemas.microsoft.com/office/powerpoint/2010/main" val="258775572"/>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3" descr="power-stations-9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1609725"/>
            <a:ext cx="3048000"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0" name="Picture 11" descr="ANd9GcQqdGkbmXC91oShQtwnMFF8Aev0Azo7baAik0OwPc75pHpJYbH1E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1484313"/>
            <a:ext cx="2808287"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AutoShape 7" descr="http://realtimeweb-prod.nationalgrid.com/ChartImg.axd?i=chart_0_5.png&amp;g=dbd1c7ef4a7c45ab8a02a858fe68b276"/>
          <p:cNvSpPr>
            <a:spLocks noChangeAspect="1" noChangeArrowheads="1"/>
          </p:cNvSpPr>
          <p:nvPr/>
        </p:nvSpPr>
        <p:spPr bwMode="auto">
          <a:xfrm>
            <a:off x="46038" y="-90488"/>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8372" name="AutoShape 9" descr="http://realtimeweb-prod.nationalgrid.com/ChartImg.axd?i=chart_0_4.png&amp;g=ef7c9c7db2c64109a616399f50f707d9"/>
          <p:cNvSpPr>
            <a:spLocks noChangeAspect="1" noChangeArrowheads="1"/>
          </p:cNvSpPr>
          <p:nvPr/>
        </p:nvSpPr>
        <p:spPr bwMode="auto">
          <a:xfrm>
            <a:off x="198438" y="619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 name="Title 3"/>
          <p:cNvSpPr txBox="1">
            <a:spLocks/>
          </p:cNvSpPr>
          <p:nvPr/>
        </p:nvSpPr>
        <p:spPr bwMode="auto">
          <a:xfrm>
            <a:off x="684213" y="333375"/>
            <a:ext cx="810101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rtl="0" eaLnBrk="0" fontAlgn="base" hangingPunct="0">
              <a:spcBef>
                <a:spcPct val="0"/>
              </a:spcBef>
              <a:spcAft>
                <a:spcPct val="0"/>
              </a:spcAft>
              <a:defRPr sz="2800" b="1">
                <a:solidFill>
                  <a:schemeClr val="tx1"/>
                </a:solidFill>
                <a:latin typeface="+mj-lt"/>
                <a:ea typeface="ＭＳ Ｐゴシック" pitchFamily="34" charset="-128"/>
                <a:cs typeface="MS PGothic" charset="0"/>
              </a:defRPr>
            </a:lvl1pPr>
            <a:lvl2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2pPr>
            <a:lvl3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3pPr>
            <a:lvl4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4pPr>
            <a:lvl5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5pPr>
            <a:lvl6pPr marL="457200" algn="l" rtl="0" eaLnBrk="1" fontAlgn="base" hangingPunct="1">
              <a:spcBef>
                <a:spcPct val="0"/>
              </a:spcBef>
              <a:spcAft>
                <a:spcPct val="0"/>
              </a:spcAft>
              <a:defRPr sz="2800" b="1">
                <a:solidFill>
                  <a:srgbClr val="45535F"/>
                </a:solidFill>
                <a:latin typeface="Arial" charset="0"/>
              </a:defRPr>
            </a:lvl6pPr>
            <a:lvl7pPr marL="914400" algn="l" rtl="0" eaLnBrk="1" fontAlgn="base" hangingPunct="1">
              <a:spcBef>
                <a:spcPct val="0"/>
              </a:spcBef>
              <a:spcAft>
                <a:spcPct val="0"/>
              </a:spcAft>
              <a:defRPr sz="2800" b="1">
                <a:solidFill>
                  <a:srgbClr val="45535F"/>
                </a:solidFill>
                <a:latin typeface="Arial" charset="0"/>
              </a:defRPr>
            </a:lvl7pPr>
            <a:lvl8pPr marL="1371600" algn="l" rtl="0" eaLnBrk="1" fontAlgn="base" hangingPunct="1">
              <a:spcBef>
                <a:spcPct val="0"/>
              </a:spcBef>
              <a:spcAft>
                <a:spcPct val="0"/>
              </a:spcAft>
              <a:defRPr sz="2800" b="1">
                <a:solidFill>
                  <a:srgbClr val="45535F"/>
                </a:solidFill>
                <a:latin typeface="Arial" charset="0"/>
              </a:defRPr>
            </a:lvl8pPr>
            <a:lvl9pPr marL="1828800" algn="l" rtl="0" eaLnBrk="1" fontAlgn="base" hangingPunct="1">
              <a:spcBef>
                <a:spcPct val="0"/>
              </a:spcBef>
              <a:spcAft>
                <a:spcPct val="0"/>
              </a:spcAft>
              <a:defRPr sz="2800" b="1">
                <a:solidFill>
                  <a:srgbClr val="45535F"/>
                </a:solidFill>
                <a:latin typeface="Arial" charset="0"/>
              </a:defRPr>
            </a:lvl9pPr>
          </a:lstStyle>
          <a:p>
            <a:pPr>
              <a:defRPr/>
            </a:pPr>
            <a:r>
              <a:rPr lang="en-GB" sz="2400" b="0" baseline="0" dirty="0" smtClean="0"/>
              <a:t>But keeping the  system in balance is difficult</a:t>
            </a:r>
          </a:p>
          <a:p>
            <a:pPr>
              <a:defRPr/>
            </a:pPr>
            <a:r>
              <a:rPr lang="en-GB" sz="2400" b="0" baseline="0" dirty="0" smtClean="0"/>
              <a:t> </a:t>
            </a:r>
            <a:endParaRPr lang="en-GB" sz="2400" b="0" baseline="0" dirty="0"/>
          </a:p>
          <a:p>
            <a:pPr>
              <a:defRPr/>
            </a:pPr>
            <a:r>
              <a:rPr lang="en-GB" sz="2400" b="0" baseline="0" dirty="0" smtClean="0">
                <a:solidFill>
                  <a:srgbClr val="FF0000"/>
                </a:solidFill>
              </a:rPr>
              <a:t>    Electrical  Energy</a:t>
            </a:r>
            <a:endParaRPr lang="en-GB" sz="2400" b="0" baseline="0" dirty="0">
              <a:solidFill>
                <a:srgbClr val="FF0000"/>
              </a:solidFill>
            </a:endParaRPr>
          </a:p>
        </p:txBody>
      </p:sp>
      <p:grpSp>
        <p:nvGrpSpPr>
          <p:cNvPr id="58374" name="Group 36"/>
          <p:cNvGrpSpPr>
            <a:grpSpLocks/>
          </p:cNvGrpSpPr>
          <p:nvPr/>
        </p:nvGrpSpPr>
        <p:grpSpPr bwMode="auto">
          <a:xfrm>
            <a:off x="279401" y="4168775"/>
            <a:ext cx="2841626" cy="2198688"/>
            <a:chOff x="3696" y="663"/>
            <a:chExt cx="1790" cy="1385"/>
          </a:xfrm>
        </p:grpSpPr>
        <p:sp>
          <p:nvSpPr>
            <p:cNvPr id="20496" name="Rectangle 6"/>
            <p:cNvSpPr>
              <a:spLocks noChangeArrowheads="1"/>
            </p:cNvSpPr>
            <p:nvPr/>
          </p:nvSpPr>
          <p:spPr bwMode="auto">
            <a:xfrm>
              <a:off x="3696" y="1525"/>
              <a:ext cx="179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GB" sz="2400" b="0" baseline="0" dirty="0">
                  <a:solidFill>
                    <a:srgbClr val="FF3F3F"/>
                  </a:solidFill>
                </a:rPr>
                <a:t>Must be consumed </a:t>
              </a:r>
            </a:p>
            <a:p>
              <a:pPr>
                <a:defRPr/>
              </a:pPr>
              <a:r>
                <a:rPr lang="en-GB" sz="2400" b="0" baseline="0" dirty="0">
                  <a:solidFill>
                    <a:srgbClr val="FF3F3F"/>
                  </a:solidFill>
                </a:rPr>
                <a:t>as soon as purchased</a:t>
              </a:r>
              <a:endParaRPr lang="en-US" sz="2400" b="0" baseline="0" dirty="0">
                <a:solidFill>
                  <a:srgbClr val="FF3F3F"/>
                </a:solidFill>
              </a:endParaRPr>
            </a:p>
          </p:txBody>
        </p:sp>
        <p:pic>
          <p:nvPicPr>
            <p:cNvPr id="58384" name="Picture 20" descr="ice-crea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 y="663"/>
              <a:ext cx="672" cy="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8375" name="Group 37"/>
          <p:cNvGrpSpPr>
            <a:grpSpLocks/>
          </p:cNvGrpSpPr>
          <p:nvPr/>
        </p:nvGrpSpPr>
        <p:grpSpPr bwMode="auto">
          <a:xfrm>
            <a:off x="2874963" y="4149726"/>
            <a:ext cx="3268662" cy="2517776"/>
            <a:chOff x="3379" y="2024"/>
            <a:chExt cx="2059" cy="1586"/>
          </a:xfrm>
        </p:grpSpPr>
        <p:sp>
          <p:nvSpPr>
            <p:cNvPr id="20493" name="Rectangle 7"/>
            <p:cNvSpPr>
              <a:spLocks noChangeArrowheads="1"/>
            </p:cNvSpPr>
            <p:nvPr/>
          </p:nvSpPr>
          <p:spPr bwMode="auto">
            <a:xfrm>
              <a:off x="3690" y="3087"/>
              <a:ext cx="1478"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GB" sz="2400" b="0" baseline="0" dirty="0">
                  <a:solidFill>
                    <a:srgbClr val="3366FF"/>
                  </a:solidFill>
                </a:rPr>
                <a:t>Cannot be stored </a:t>
              </a:r>
            </a:p>
            <a:p>
              <a:pPr>
                <a:defRPr/>
              </a:pPr>
              <a:r>
                <a:rPr lang="en-GB" sz="2400" b="0" baseline="0" dirty="0">
                  <a:solidFill>
                    <a:srgbClr val="3366FF"/>
                  </a:solidFill>
                </a:rPr>
                <a:t>in large quantity</a:t>
              </a:r>
              <a:endParaRPr lang="en-US" sz="2400" b="0" baseline="0" dirty="0">
                <a:solidFill>
                  <a:srgbClr val="3366FF"/>
                </a:solidFill>
              </a:endParaRPr>
            </a:p>
          </p:txBody>
        </p:sp>
        <p:pic>
          <p:nvPicPr>
            <p:cNvPr id="58381" name="Picture 22" descr="ANd9GcRTGMX_liq3TdS3J-imZkj1QMmdKFjwtrat2zn6st-sWbFV_h6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9" y="2024"/>
              <a:ext cx="844" cy="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2" name="Picture 24" descr="ANd9GcSkyYVRIf3lv8JBRz1ysJa_lZDfqiz_DuOIa7odChF00DOcMW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 y="2160"/>
              <a:ext cx="1152"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8377" name="Group 38"/>
          <p:cNvGrpSpPr>
            <a:grpSpLocks/>
          </p:cNvGrpSpPr>
          <p:nvPr/>
        </p:nvGrpSpPr>
        <p:grpSpPr bwMode="auto">
          <a:xfrm>
            <a:off x="6423025" y="4387849"/>
            <a:ext cx="2290065" cy="2139835"/>
            <a:chOff x="1866" y="2421"/>
            <a:chExt cx="1991" cy="1773"/>
          </a:xfrm>
        </p:grpSpPr>
        <p:sp>
          <p:nvSpPr>
            <p:cNvPr id="20491" name="Rectangle 8"/>
            <p:cNvSpPr>
              <a:spLocks noChangeArrowheads="1"/>
            </p:cNvSpPr>
            <p:nvPr/>
          </p:nvSpPr>
          <p:spPr bwMode="auto">
            <a:xfrm>
              <a:off x="1866" y="3250"/>
              <a:ext cx="1991" cy="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endParaRPr lang="en-GB" sz="2000" dirty="0"/>
            </a:p>
            <a:p>
              <a:pPr>
                <a:defRPr/>
              </a:pPr>
              <a:r>
                <a:rPr lang="en-GB" sz="2400" b="0" baseline="0" dirty="0"/>
                <a:t>Low tolerance to </a:t>
              </a:r>
            </a:p>
            <a:p>
              <a:pPr>
                <a:defRPr/>
              </a:pPr>
              <a:r>
                <a:rPr lang="en-GB" sz="2400" b="0" baseline="0" dirty="0"/>
                <a:t>interruption</a:t>
              </a:r>
            </a:p>
          </p:txBody>
        </p:sp>
        <p:pic>
          <p:nvPicPr>
            <p:cNvPr id="58379" name="Picture 28" descr="Candle-reflected-in-the-window-1359012538_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3" y="2421"/>
              <a:ext cx="1316"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245220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6" name="Text Box 4"/>
          <p:cNvSpPr txBox="1">
            <a:spLocks noChangeArrowheads="1"/>
          </p:cNvSpPr>
          <p:nvPr/>
        </p:nvSpPr>
        <p:spPr bwMode="auto">
          <a:xfrm>
            <a:off x="1219200" y="838200"/>
            <a:ext cx="7543800" cy="581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sz="2400">
                <a:solidFill>
                  <a:schemeClr val="tx1"/>
                </a:solidFill>
                <a:latin typeface="Arial Black" charset="0"/>
                <a:ea typeface="ＭＳ Ｐゴシック" charset="0"/>
                <a:cs typeface="Arial" charset="0"/>
              </a:defRPr>
            </a:lvl1pPr>
            <a:lvl2pPr marL="914400" indent="-457200" eaLnBrk="0" hangingPunct="0">
              <a:defRPr sz="2400">
                <a:solidFill>
                  <a:schemeClr val="tx1"/>
                </a:solidFill>
                <a:latin typeface="Arial Black" charset="0"/>
                <a:ea typeface="Arial" charset="0"/>
                <a:cs typeface="Arial" charset="0"/>
              </a:defRPr>
            </a:lvl2pPr>
            <a:lvl3pPr marL="1371600" indent="-457200" eaLnBrk="0" hangingPunct="0">
              <a:defRPr sz="2400">
                <a:solidFill>
                  <a:schemeClr val="tx1"/>
                </a:solidFill>
                <a:latin typeface="Arial Black" charset="0"/>
                <a:ea typeface="Arial" charset="0"/>
                <a:cs typeface="Arial" charset="0"/>
              </a:defRPr>
            </a:lvl3pPr>
            <a:lvl4pPr marL="1828800" indent="-457200" eaLnBrk="0" hangingPunct="0">
              <a:defRPr sz="2400">
                <a:solidFill>
                  <a:schemeClr val="tx1"/>
                </a:solidFill>
                <a:latin typeface="Arial Black" charset="0"/>
                <a:ea typeface="Arial" charset="0"/>
                <a:cs typeface="Arial" charset="0"/>
              </a:defRPr>
            </a:lvl4pPr>
            <a:lvl5pPr marL="2286000" indent="-457200" eaLnBrk="0" hangingPunct="0">
              <a:defRPr sz="2400">
                <a:solidFill>
                  <a:schemeClr val="tx1"/>
                </a:solidFill>
                <a:latin typeface="Arial Black" charset="0"/>
                <a:ea typeface="Arial" charset="0"/>
                <a:cs typeface="Arial" charset="0"/>
              </a:defRPr>
            </a:lvl5pPr>
            <a:lvl6pPr marL="2743200" indent="-457200" eaLnBrk="0" fontAlgn="base" hangingPunct="0">
              <a:spcBef>
                <a:spcPct val="0"/>
              </a:spcBef>
              <a:spcAft>
                <a:spcPct val="0"/>
              </a:spcAft>
              <a:defRPr sz="2400">
                <a:solidFill>
                  <a:schemeClr val="tx1"/>
                </a:solidFill>
                <a:latin typeface="Arial Black" charset="0"/>
                <a:ea typeface="Arial" charset="0"/>
                <a:cs typeface="Arial" charset="0"/>
              </a:defRPr>
            </a:lvl6pPr>
            <a:lvl7pPr marL="3200400" indent="-457200" eaLnBrk="0" fontAlgn="base" hangingPunct="0">
              <a:spcBef>
                <a:spcPct val="0"/>
              </a:spcBef>
              <a:spcAft>
                <a:spcPct val="0"/>
              </a:spcAft>
              <a:defRPr sz="2400">
                <a:solidFill>
                  <a:schemeClr val="tx1"/>
                </a:solidFill>
                <a:latin typeface="Arial Black" charset="0"/>
                <a:ea typeface="Arial" charset="0"/>
                <a:cs typeface="Arial" charset="0"/>
              </a:defRPr>
            </a:lvl7pPr>
            <a:lvl8pPr marL="3657600" indent="-457200" eaLnBrk="0" fontAlgn="base" hangingPunct="0">
              <a:spcBef>
                <a:spcPct val="0"/>
              </a:spcBef>
              <a:spcAft>
                <a:spcPct val="0"/>
              </a:spcAft>
              <a:defRPr sz="2400">
                <a:solidFill>
                  <a:schemeClr val="tx1"/>
                </a:solidFill>
                <a:latin typeface="Arial Black" charset="0"/>
                <a:ea typeface="Arial" charset="0"/>
                <a:cs typeface="Arial" charset="0"/>
              </a:defRPr>
            </a:lvl8pPr>
            <a:lvl9pPr marL="4114800" indent="-457200" eaLnBrk="0" fontAlgn="base" hangingPunct="0">
              <a:spcBef>
                <a:spcPct val="0"/>
              </a:spcBef>
              <a:spcAft>
                <a:spcPct val="0"/>
              </a:spcAft>
              <a:defRPr sz="2400">
                <a:solidFill>
                  <a:schemeClr val="tx1"/>
                </a:solidFill>
                <a:latin typeface="Arial Black" charset="0"/>
                <a:ea typeface="Arial" charset="0"/>
                <a:cs typeface="Arial" charset="0"/>
              </a:defRPr>
            </a:lvl9pPr>
          </a:lstStyle>
          <a:p>
            <a:pPr eaLnBrk="1" hangingPunct="1">
              <a:spcBef>
                <a:spcPct val="50000"/>
              </a:spcBef>
              <a:defRPr/>
            </a:pPr>
            <a:endParaRPr lang="en-US" dirty="0" smtClean="0">
              <a:latin typeface="Arial" charset="0"/>
            </a:endParaRPr>
          </a:p>
          <a:p>
            <a:pPr eaLnBrk="1" hangingPunct="1">
              <a:spcBef>
                <a:spcPct val="50000"/>
              </a:spcBef>
              <a:defRPr/>
            </a:pPr>
            <a:endParaRPr lang="en-US" dirty="0" smtClean="0">
              <a:latin typeface="Arial" charset="0"/>
            </a:endParaRPr>
          </a:p>
          <a:p>
            <a:pPr eaLnBrk="1" hangingPunct="1">
              <a:spcBef>
                <a:spcPct val="50000"/>
              </a:spcBef>
              <a:defRPr/>
            </a:pPr>
            <a:r>
              <a:rPr lang="en-US" dirty="0" smtClean="0">
                <a:latin typeface="Arial" charset="0"/>
              </a:rPr>
              <a:t>Aims to provide </a:t>
            </a:r>
            <a:r>
              <a:rPr lang="en-US" dirty="0" smtClean="0">
                <a:solidFill>
                  <a:srgbClr val="0000FF"/>
                </a:solidFill>
                <a:latin typeface="Arial" charset="0"/>
              </a:rPr>
              <a:t>reliable AC electrical power</a:t>
            </a:r>
            <a:r>
              <a:rPr lang="en-US" dirty="0" smtClean="0">
                <a:latin typeface="Arial" charset="0"/>
              </a:rPr>
              <a:t> from suppliers to consumers</a:t>
            </a:r>
          </a:p>
          <a:p>
            <a:pPr eaLnBrk="1" hangingPunct="1">
              <a:spcBef>
                <a:spcPct val="50000"/>
              </a:spcBef>
              <a:defRPr/>
            </a:pPr>
            <a:endParaRPr lang="en-US" dirty="0" smtClean="0">
              <a:latin typeface="Arial" charset="0"/>
            </a:endParaRPr>
          </a:p>
          <a:p>
            <a:pPr eaLnBrk="1" hangingPunct="1">
              <a:spcBef>
                <a:spcPct val="50000"/>
              </a:spcBef>
              <a:defRPr/>
            </a:pPr>
            <a:r>
              <a:rPr lang="en-US" dirty="0" smtClean="0">
                <a:latin typeface="Arial" charset="0"/>
              </a:rPr>
              <a:t>Needs to ensure the </a:t>
            </a:r>
            <a:r>
              <a:rPr lang="en-US" dirty="0" smtClean="0">
                <a:solidFill>
                  <a:srgbClr val="FF0000"/>
                </a:solidFill>
                <a:latin typeface="Arial" charset="0"/>
              </a:rPr>
              <a:t>AC power</a:t>
            </a:r>
            <a:endParaRPr lang="en-US" dirty="0" smtClean="0">
              <a:latin typeface="Arial" charset="0"/>
            </a:endParaRPr>
          </a:p>
          <a:p>
            <a:pPr eaLnBrk="1" hangingPunct="1">
              <a:spcBef>
                <a:spcPct val="50000"/>
              </a:spcBef>
              <a:defRPr/>
            </a:pPr>
            <a:endParaRPr lang="en-US" dirty="0" smtClean="0">
              <a:latin typeface="Arial" charset="0"/>
            </a:endParaRPr>
          </a:p>
          <a:p>
            <a:pPr eaLnBrk="1" hangingPunct="1">
              <a:spcBef>
                <a:spcPct val="50000"/>
              </a:spcBef>
              <a:buFont typeface="Arial" charset="0"/>
              <a:buAutoNum type="arabicPeriod"/>
              <a:defRPr/>
            </a:pPr>
            <a:r>
              <a:rPr lang="en-US" dirty="0" smtClean="0">
                <a:latin typeface="Arial" charset="0"/>
              </a:rPr>
              <a:t>Has </a:t>
            </a:r>
            <a:r>
              <a:rPr lang="en-US" dirty="0" smtClean="0">
                <a:solidFill>
                  <a:srgbClr val="3366FF"/>
                </a:solidFill>
                <a:latin typeface="Arial" charset="0"/>
              </a:rPr>
              <a:t>near constant voltage</a:t>
            </a:r>
          </a:p>
          <a:p>
            <a:pPr eaLnBrk="1" hangingPunct="1">
              <a:spcBef>
                <a:spcPct val="50000"/>
              </a:spcBef>
              <a:buFont typeface="Arial" charset="0"/>
              <a:buAutoNum type="arabicPeriod"/>
              <a:defRPr/>
            </a:pPr>
            <a:r>
              <a:rPr lang="en-US" dirty="0" smtClean="0">
                <a:latin typeface="Arial" charset="0"/>
              </a:rPr>
              <a:t>Has </a:t>
            </a:r>
            <a:r>
              <a:rPr lang="en-US" dirty="0" smtClean="0">
                <a:solidFill>
                  <a:srgbClr val="3366FF"/>
                </a:solidFill>
                <a:latin typeface="Arial" charset="0"/>
              </a:rPr>
              <a:t>near constant frequency</a:t>
            </a:r>
          </a:p>
          <a:p>
            <a:pPr eaLnBrk="1" hangingPunct="1">
              <a:spcBef>
                <a:spcPct val="50000"/>
              </a:spcBef>
              <a:buFont typeface="Arial" charset="0"/>
              <a:buAutoNum type="arabicPeriod"/>
              <a:defRPr/>
            </a:pPr>
            <a:endParaRPr lang="en-US" dirty="0" smtClean="0">
              <a:latin typeface="Arial" charset="0"/>
            </a:endParaRPr>
          </a:p>
          <a:p>
            <a:pPr eaLnBrk="1" hangingPunct="1">
              <a:spcBef>
                <a:spcPct val="50000"/>
              </a:spcBef>
              <a:buFont typeface="Arial" charset="0"/>
              <a:buNone/>
              <a:defRPr/>
            </a:pPr>
            <a:r>
              <a:rPr lang="en-US" dirty="0" smtClean="0">
                <a:solidFill>
                  <a:srgbClr val="8B2227"/>
                </a:solidFill>
                <a:latin typeface="Arial" charset="0"/>
              </a:rPr>
              <a:t>Regardless of the power demanded from it</a:t>
            </a:r>
          </a:p>
        </p:txBody>
      </p:sp>
      <p:pic>
        <p:nvPicPr>
          <p:cNvPr id="17410" name="Picture 5" descr="NationalGr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04800"/>
            <a:ext cx="4038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4004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0" name="Text Box 4"/>
          <p:cNvSpPr txBox="1">
            <a:spLocks noChangeArrowheads="1"/>
          </p:cNvSpPr>
          <p:nvPr/>
        </p:nvSpPr>
        <p:spPr bwMode="auto">
          <a:xfrm>
            <a:off x="-1" y="132320"/>
            <a:ext cx="9782865" cy="6555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2400" dirty="0" smtClean="0">
                <a:solidFill>
                  <a:srgbClr val="CC66FF"/>
                </a:solidFill>
                <a:latin typeface="Arial" charset="0"/>
                <a:cs typeface="Arial" charset="0"/>
              </a:rPr>
              <a:t>                                           Problem</a:t>
            </a:r>
            <a:r>
              <a:rPr lang="en-US" sz="2400" dirty="0" smtClean="0">
                <a:latin typeface="Arial" charset="0"/>
                <a:cs typeface="Arial" charset="0"/>
              </a:rPr>
              <a:t> </a:t>
            </a:r>
            <a:endParaRPr lang="en-US" sz="2400" dirty="0">
              <a:latin typeface="Arial" charset="0"/>
              <a:cs typeface="Arial" charset="0"/>
            </a:endParaRPr>
          </a:p>
          <a:p>
            <a:pPr>
              <a:spcBef>
                <a:spcPct val="50000"/>
              </a:spcBef>
              <a:defRPr/>
            </a:pPr>
            <a:r>
              <a:rPr lang="en-US" sz="2400" dirty="0" smtClean="0">
                <a:latin typeface="Arial" charset="0"/>
                <a:cs typeface="Arial" charset="0"/>
              </a:rPr>
              <a:t>Too </a:t>
            </a:r>
            <a:r>
              <a:rPr lang="en-US" sz="2400" dirty="0">
                <a:latin typeface="Arial" charset="0"/>
                <a:cs typeface="Arial" charset="0"/>
              </a:rPr>
              <a:t>much demand and insufficient supply can result in a power cut</a:t>
            </a:r>
            <a:endParaRPr lang="en-US" sz="2400" dirty="0">
              <a:cs typeface="Arial" charset="0"/>
            </a:endParaRPr>
          </a:p>
          <a:p>
            <a:pPr>
              <a:spcBef>
                <a:spcPct val="50000"/>
              </a:spcBef>
              <a:defRPr/>
            </a:pPr>
            <a:r>
              <a:rPr lang="en-US" sz="2400" dirty="0" smtClean="0">
                <a:solidFill>
                  <a:srgbClr val="FF0000"/>
                </a:solidFill>
                <a:latin typeface="Arial" charset="0"/>
                <a:cs typeface="Arial" charset="0"/>
              </a:rPr>
              <a:t>                           World </a:t>
            </a:r>
            <a:r>
              <a:rPr lang="en-US" sz="2400" dirty="0">
                <a:solidFill>
                  <a:srgbClr val="FF0000"/>
                </a:solidFill>
                <a:latin typeface="Arial" charset="0"/>
                <a:cs typeface="Arial" charset="0"/>
              </a:rPr>
              <a:t>Cup 1990: Near Miss</a:t>
            </a:r>
            <a:r>
              <a:rPr lang="en-US" sz="2400" dirty="0" smtClean="0">
                <a:solidFill>
                  <a:srgbClr val="FF0000"/>
                </a:solidFill>
                <a:latin typeface="Arial" charset="0"/>
                <a:cs typeface="Arial" charset="0"/>
              </a:rPr>
              <a:t>!</a:t>
            </a:r>
          </a:p>
          <a:p>
            <a:pPr>
              <a:spcBef>
                <a:spcPct val="50000"/>
              </a:spcBef>
              <a:defRPr/>
            </a:pPr>
            <a:endParaRPr lang="en-US" sz="2400" dirty="0">
              <a:solidFill>
                <a:srgbClr val="FF0000"/>
              </a:solidFill>
              <a:latin typeface="Arial" charset="0"/>
              <a:cs typeface="Arial" charset="0"/>
            </a:endParaRPr>
          </a:p>
          <a:p>
            <a:pPr>
              <a:spcBef>
                <a:spcPct val="50000"/>
              </a:spcBef>
              <a:defRPr/>
            </a:pPr>
            <a:endParaRPr lang="en-US" sz="2400" dirty="0" smtClean="0">
              <a:solidFill>
                <a:srgbClr val="FF0000"/>
              </a:solidFill>
              <a:latin typeface="Arial" charset="0"/>
              <a:cs typeface="Arial" charset="0"/>
            </a:endParaRPr>
          </a:p>
          <a:p>
            <a:pPr>
              <a:spcBef>
                <a:spcPct val="50000"/>
              </a:spcBef>
              <a:defRPr/>
            </a:pPr>
            <a:endParaRPr lang="en-US" sz="2400" dirty="0">
              <a:solidFill>
                <a:srgbClr val="FF0000"/>
              </a:solidFill>
              <a:latin typeface="Arial" charset="0"/>
              <a:cs typeface="Arial" charset="0"/>
            </a:endParaRPr>
          </a:p>
          <a:p>
            <a:pPr>
              <a:spcBef>
                <a:spcPct val="50000"/>
              </a:spcBef>
              <a:defRPr/>
            </a:pPr>
            <a:endParaRPr lang="en-US" sz="2400" dirty="0" smtClean="0">
              <a:solidFill>
                <a:srgbClr val="FF0000"/>
              </a:solidFill>
              <a:latin typeface="Arial" charset="0"/>
              <a:cs typeface="Arial" charset="0"/>
            </a:endParaRPr>
          </a:p>
          <a:p>
            <a:pPr>
              <a:spcBef>
                <a:spcPct val="50000"/>
              </a:spcBef>
              <a:defRPr/>
            </a:pPr>
            <a:endParaRPr lang="en-US" sz="2400" dirty="0">
              <a:solidFill>
                <a:srgbClr val="FF0000"/>
              </a:solidFill>
              <a:latin typeface="Arial" charset="0"/>
              <a:cs typeface="Arial" charset="0"/>
            </a:endParaRPr>
          </a:p>
          <a:p>
            <a:pPr>
              <a:spcBef>
                <a:spcPct val="50000"/>
              </a:spcBef>
              <a:defRPr/>
            </a:pPr>
            <a:endParaRPr lang="en-US" sz="2400" dirty="0" smtClean="0">
              <a:solidFill>
                <a:srgbClr val="FF0000"/>
              </a:solidFill>
              <a:latin typeface="Arial" charset="0"/>
              <a:cs typeface="Arial" charset="0"/>
            </a:endParaRPr>
          </a:p>
          <a:p>
            <a:pPr>
              <a:spcBef>
                <a:spcPct val="50000"/>
              </a:spcBef>
              <a:defRPr/>
            </a:pPr>
            <a:endParaRPr lang="en-US" sz="2400" dirty="0">
              <a:latin typeface="Arial" charset="0"/>
              <a:cs typeface="Arial" charset="0"/>
            </a:endParaRPr>
          </a:p>
          <a:p>
            <a:pPr>
              <a:spcBef>
                <a:spcPct val="50000"/>
              </a:spcBef>
              <a:defRPr/>
            </a:pPr>
            <a:r>
              <a:rPr lang="en-US" sz="2400" dirty="0">
                <a:latin typeface="Arial" charset="0"/>
                <a:cs typeface="Arial" charset="0"/>
              </a:rPr>
              <a:t>  </a:t>
            </a:r>
            <a:r>
              <a:rPr lang="en-US" sz="2400" dirty="0" smtClean="0">
                <a:latin typeface="Arial" charset="0"/>
                <a:cs typeface="Arial" charset="0"/>
              </a:rPr>
              <a:t>          </a:t>
            </a:r>
            <a:r>
              <a:rPr lang="en-US" sz="2400" dirty="0">
                <a:latin typeface="Arial" charset="0"/>
                <a:cs typeface="Arial" charset="0"/>
              </a:rPr>
              <a:t>At the end of the match, </a:t>
            </a:r>
            <a:r>
              <a:rPr lang="en-US" sz="2400" dirty="0">
                <a:solidFill>
                  <a:srgbClr val="0000FF"/>
                </a:solidFill>
                <a:latin typeface="Arial" charset="0"/>
                <a:cs typeface="Arial" charset="0"/>
              </a:rPr>
              <a:t>power surged by 2.8 GW</a:t>
            </a:r>
            <a:r>
              <a:rPr lang="en-US" sz="2400" dirty="0">
                <a:latin typeface="Arial" charset="0"/>
                <a:cs typeface="Arial" charset="0"/>
              </a:rPr>
              <a:t> </a:t>
            </a:r>
          </a:p>
          <a:p>
            <a:pPr>
              <a:spcBef>
                <a:spcPct val="50000"/>
              </a:spcBef>
              <a:defRPr/>
            </a:pPr>
            <a:r>
              <a:rPr lang="en-US" sz="2400" dirty="0">
                <a:latin typeface="Arial" charset="0"/>
                <a:cs typeface="Arial" charset="0"/>
              </a:rPr>
              <a:t>  </a:t>
            </a:r>
            <a:r>
              <a:rPr lang="en-US" sz="2400" dirty="0" smtClean="0">
                <a:latin typeface="Arial" charset="0"/>
                <a:cs typeface="Arial" charset="0"/>
              </a:rPr>
              <a:t>             11</a:t>
            </a:r>
            <a:r>
              <a:rPr lang="en-US" sz="2400" dirty="0">
                <a:latin typeface="Arial" charset="0"/>
                <a:cs typeface="Arial" charset="0"/>
              </a:rPr>
              <a:t>% of total capacity or 1 million Kettles</a:t>
            </a:r>
          </a:p>
        </p:txBody>
      </p:sp>
      <p:pic>
        <p:nvPicPr>
          <p:cNvPr id="2" name="Picture 1" descr="WA175691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9141" y="1897270"/>
            <a:ext cx="5185089" cy="3448295"/>
          </a:xfrm>
          <a:prstGeom prst="rect">
            <a:avLst/>
          </a:prstGeom>
        </p:spPr>
      </p:pic>
    </p:spTree>
    <p:extLst>
      <p:ext uri="{BB962C8B-B14F-4D97-AF65-F5344CB8AC3E}">
        <p14:creationId xmlns:p14="http://schemas.microsoft.com/office/powerpoint/2010/main" val="898689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_41742124_power_surge_4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578" y="360638"/>
            <a:ext cx="8232712" cy="6475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803834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4" name="Text Box 4"/>
          <p:cNvSpPr txBox="1">
            <a:spLocks noChangeArrowheads="1"/>
          </p:cNvSpPr>
          <p:nvPr/>
        </p:nvSpPr>
        <p:spPr bwMode="auto">
          <a:xfrm>
            <a:off x="282204" y="381000"/>
            <a:ext cx="830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2800" dirty="0" smtClean="0">
                <a:solidFill>
                  <a:srgbClr val="FF0000"/>
                </a:solidFill>
                <a:latin typeface="Arial" charset="0"/>
                <a:cs typeface="Arial" charset="0"/>
              </a:rPr>
              <a:t>What can go wrong: US </a:t>
            </a:r>
            <a:r>
              <a:rPr lang="en-US" sz="2800" dirty="0">
                <a:solidFill>
                  <a:srgbClr val="FF0000"/>
                </a:solidFill>
                <a:latin typeface="Arial" charset="0"/>
                <a:cs typeface="Arial" charset="0"/>
              </a:rPr>
              <a:t>NE Coast Blackout 2003</a:t>
            </a:r>
            <a:endParaRPr lang="en-US" sz="2800" dirty="0">
              <a:solidFill>
                <a:srgbClr val="FF0000"/>
              </a:solidFill>
              <a:cs typeface="Arial" charset="0"/>
            </a:endParaRPr>
          </a:p>
        </p:txBody>
      </p:sp>
      <p:pic>
        <p:nvPicPr>
          <p:cNvPr id="33794" name="Picture 5" descr="ny_blacko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8" y="1411288"/>
            <a:ext cx="5719762"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7654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7" name="Text Box 5"/>
          <p:cNvSpPr txBox="1">
            <a:spLocks noChangeArrowheads="1"/>
          </p:cNvSpPr>
          <p:nvPr/>
        </p:nvSpPr>
        <p:spPr bwMode="auto">
          <a:xfrm>
            <a:off x="762000" y="609600"/>
            <a:ext cx="81534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Arial" charset="0"/>
                <a:cs typeface="Arial" charset="0"/>
              </a:rPr>
              <a:t>Cost of 2003 US Blackout estimated at</a:t>
            </a:r>
          </a:p>
          <a:p>
            <a:pPr>
              <a:spcBef>
                <a:spcPct val="50000"/>
              </a:spcBef>
              <a:defRPr/>
            </a:pPr>
            <a:r>
              <a:rPr lang="en-US" sz="2400" dirty="0">
                <a:latin typeface="Arial" charset="0"/>
                <a:cs typeface="Arial" charset="0"/>
              </a:rPr>
              <a:t> </a:t>
            </a:r>
          </a:p>
          <a:p>
            <a:pPr>
              <a:spcBef>
                <a:spcPct val="50000"/>
              </a:spcBef>
              <a:defRPr/>
            </a:pPr>
            <a:r>
              <a:rPr lang="en-US" sz="2400" dirty="0">
                <a:latin typeface="Arial" charset="0"/>
                <a:cs typeface="Arial" charset="0"/>
              </a:rPr>
              <a:t>                      </a:t>
            </a:r>
            <a:r>
              <a:rPr lang="en-US" sz="4000" dirty="0">
                <a:solidFill>
                  <a:srgbClr val="FF0000"/>
                </a:solidFill>
                <a:latin typeface="Arial" charset="0"/>
                <a:cs typeface="Arial" charset="0"/>
              </a:rPr>
              <a:t>$5 Billion!</a:t>
            </a:r>
          </a:p>
          <a:p>
            <a:pPr>
              <a:spcBef>
                <a:spcPct val="50000"/>
              </a:spcBef>
              <a:defRPr/>
            </a:pPr>
            <a:endParaRPr lang="en-US" sz="2400" dirty="0">
              <a:latin typeface="Arial" charset="0"/>
              <a:cs typeface="Arial" charset="0"/>
            </a:endParaRPr>
          </a:p>
          <a:p>
            <a:pPr>
              <a:spcBef>
                <a:spcPct val="50000"/>
              </a:spcBef>
              <a:defRPr/>
            </a:pPr>
            <a:r>
              <a:rPr lang="en-US" sz="2400" dirty="0">
                <a:latin typeface="Arial" charset="0"/>
                <a:cs typeface="Arial" charset="0"/>
              </a:rPr>
              <a:t>Keeping the lights on is a huge issue of concern to both the general public and to politicians</a:t>
            </a:r>
          </a:p>
          <a:p>
            <a:pPr>
              <a:spcBef>
                <a:spcPct val="50000"/>
              </a:spcBef>
              <a:defRPr/>
            </a:pPr>
            <a:endParaRPr lang="en-US" sz="2400" dirty="0">
              <a:latin typeface="Arial" charset="0"/>
              <a:cs typeface="Arial" charset="0"/>
            </a:endParaRPr>
          </a:p>
          <a:p>
            <a:pPr>
              <a:spcBef>
                <a:spcPct val="50000"/>
              </a:spcBef>
              <a:defRPr/>
            </a:pPr>
            <a:r>
              <a:rPr lang="en-US" sz="2400" dirty="0" smtClean="0">
                <a:solidFill>
                  <a:srgbClr val="8B2227"/>
                </a:solidFill>
                <a:latin typeface="Arial" charset="0"/>
                <a:cs typeface="Arial" charset="0"/>
              </a:rPr>
              <a:t>              Security </a:t>
            </a:r>
            <a:r>
              <a:rPr lang="en-US" sz="2400" dirty="0">
                <a:solidFill>
                  <a:srgbClr val="8B2227"/>
                </a:solidFill>
                <a:latin typeface="Arial" charset="0"/>
                <a:cs typeface="Arial" charset="0"/>
              </a:rPr>
              <a:t>of supply is paramount</a:t>
            </a:r>
            <a:endParaRPr lang="en-US" sz="2400" dirty="0">
              <a:latin typeface="Arial" charset="0"/>
              <a:cs typeface="Arial" charset="0"/>
            </a:endParaRPr>
          </a:p>
          <a:p>
            <a:pPr>
              <a:spcBef>
                <a:spcPct val="50000"/>
              </a:spcBef>
              <a:defRPr/>
            </a:pPr>
            <a:endParaRPr lang="en-US" sz="2400" dirty="0">
              <a:latin typeface="Arial" charset="0"/>
              <a:cs typeface="Arial" charset="0"/>
            </a:endParaRPr>
          </a:p>
        </p:txBody>
      </p:sp>
      <p:sp>
        <p:nvSpPr>
          <p:cNvPr id="233478" name="Text Box 6"/>
          <p:cNvSpPr txBox="1">
            <a:spLocks noChangeArrowheads="1"/>
          </p:cNvSpPr>
          <p:nvPr/>
        </p:nvSpPr>
        <p:spPr bwMode="auto">
          <a:xfrm>
            <a:off x="762000" y="5502275"/>
            <a:ext cx="7162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endParaRPr lang="en-US" dirty="0" smtClean="0">
              <a:solidFill>
                <a:srgbClr val="0000FF"/>
              </a:solidFill>
              <a:latin typeface="Arial" charset="0"/>
              <a:cs typeface="Arial" charset="0"/>
            </a:endParaRPr>
          </a:p>
          <a:p>
            <a:pPr>
              <a:spcBef>
                <a:spcPct val="50000"/>
              </a:spcBef>
              <a:defRPr/>
            </a:pPr>
            <a:r>
              <a:rPr lang="en-US" sz="2800" dirty="0" smtClean="0">
                <a:solidFill>
                  <a:srgbClr val="0000FF"/>
                </a:solidFill>
                <a:latin typeface="Arial" charset="0"/>
                <a:cs typeface="Arial" charset="0"/>
              </a:rPr>
              <a:t>     Mathematics offers </a:t>
            </a:r>
            <a:r>
              <a:rPr lang="en-US" sz="2800" dirty="0">
                <a:solidFill>
                  <a:srgbClr val="0000FF"/>
                </a:solidFill>
                <a:latin typeface="Arial" charset="0"/>
                <a:cs typeface="Arial" charset="0"/>
              </a:rPr>
              <a:t>real insights into this.</a:t>
            </a:r>
          </a:p>
        </p:txBody>
      </p:sp>
    </p:spTree>
    <p:extLst>
      <p:ext uri="{BB962C8B-B14F-4D97-AF65-F5344CB8AC3E}">
        <p14:creationId xmlns:p14="http://schemas.microsoft.com/office/powerpoint/2010/main" val="3670325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3" descr="gri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1141" y="1068193"/>
            <a:ext cx="5059363" cy="525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0" name="TextBox 5"/>
          <p:cNvSpPr txBox="1">
            <a:spLocks noChangeArrowheads="1"/>
          </p:cNvSpPr>
          <p:nvPr/>
        </p:nvSpPr>
        <p:spPr bwMode="auto">
          <a:xfrm>
            <a:off x="827088" y="188913"/>
            <a:ext cx="7705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Arial" charset="0"/>
                <a:ea typeface="ＭＳ Ｐゴシック" charset="0"/>
                <a:cs typeface="ＭＳ Ｐゴシック" charset="0"/>
              </a:defRPr>
            </a:lvl1pPr>
            <a:lvl2pPr marL="742950" indent="-285750">
              <a:defRPr sz="2400" b="1" baseline="30000">
                <a:solidFill>
                  <a:schemeClr val="tx1"/>
                </a:solidFill>
                <a:latin typeface="Arial" charset="0"/>
                <a:ea typeface="ＭＳ Ｐゴシック" charset="0"/>
              </a:defRPr>
            </a:lvl2pPr>
            <a:lvl3pPr marL="1143000" indent="-228600">
              <a:defRPr sz="2400" b="1" baseline="30000">
                <a:solidFill>
                  <a:schemeClr val="tx1"/>
                </a:solidFill>
                <a:latin typeface="Arial" charset="0"/>
                <a:ea typeface="ＭＳ Ｐゴシック" charset="0"/>
              </a:defRPr>
            </a:lvl3pPr>
            <a:lvl4pPr marL="1600200" indent="-228600">
              <a:defRPr sz="2400" b="1" baseline="30000">
                <a:solidFill>
                  <a:schemeClr val="tx1"/>
                </a:solidFill>
                <a:latin typeface="Arial" charset="0"/>
                <a:ea typeface="ＭＳ Ｐゴシック" charset="0"/>
              </a:defRPr>
            </a:lvl4pPr>
            <a:lvl5pPr marL="2057400" indent="-228600">
              <a:defRPr sz="2400" b="1" baseline="30000">
                <a:solidFill>
                  <a:schemeClr val="tx1"/>
                </a:solidFill>
                <a:latin typeface="Arial" charset="0"/>
                <a:ea typeface="ＭＳ Ｐゴシック" charset="0"/>
              </a:defRPr>
            </a:lvl5pPr>
            <a:lvl6pPr marL="2514600" indent="-228600" eaLnBrk="0" fontAlgn="base" hangingPunct="0">
              <a:spcBef>
                <a:spcPct val="0"/>
              </a:spcBef>
              <a:spcAft>
                <a:spcPct val="0"/>
              </a:spcAft>
              <a:defRPr sz="2400" b="1" baseline="30000">
                <a:solidFill>
                  <a:schemeClr val="tx1"/>
                </a:solidFill>
                <a:latin typeface="Arial" charset="0"/>
                <a:ea typeface="ＭＳ Ｐゴシック" charset="0"/>
              </a:defRPr>
            </a:lvl6pPr>
            <a:lvl7pPr marL="2971800" indent="-228600" eaLnBrk="0" fontAlgn="base" hangingPunct="0">
              <a:spcBef>
                <a:spcPct val="0"/>
              </a:spcBef>
              <a:spcAft>
                <a:spcPct val="0"/>
              </a:spcAft>
              <a:defRPr sz="2400" b="1" baseline="30000">
                <a:solidFill>
                  <a:schemeClr val="tx1"/>
                </a:solidFill>
                <a:latin typeface="Arial" charset="0"/>
                <a:ea typeface="ＭＳ Ｐゴシック" charset="0"/>
              </a:defRPr>
            </a:lvl7pPr>
            <a:lvl8pPr marL="3429000" indent="-228600" eaLnBrk="0" fontAlgn="base" hangingPunct="0">
              <a:spcBef>
                <a:spcPct val="0"/>
              </a:spcBef>
              <a:spcAft>
                <a:spcPct val="0"/>
              </a:spcAft>
              <a:defRPr sz="2400" b="1" baseline="30000">
                <a:solidFill>
                  <a:schemeClr val="tx1"/>
                </a:solidFill>
                <a:latin typeface="Arial" charset="0"/>
                <a:ea typeface="ＭＳ Ｐゴシック" charset="0"/>
              </a:defRPr>
            </a:lvl8pPr>
            <a:lvl9pPr marL="3886200" indent="-228600" eaLnBrk="0" fontAlgn="base" hangingPunct="0">
              <a:spcBef>
                <a:spcPct val="0"/>
              </a:spcBef>
              <a:spcAft>
                <a:spcPct val="0"/>
              </a:spcAft>
              <a:defRPr sz="2400" b="1" baseline="30000">
                <a:solidFill>
                  <a:schemeClr val="tx1"/>
                </a:solidFill>
                <a:latin typeface="Arial" charset="0"/>
                <a:ea typeface="ＭＳ Ｐゴシック" charset="0"/>
              </a:defRPr>
            </a:lvl9pPr>
          </a:lstStyle>
          <a:p>
            <a:r>
              <a:rPr lang="en-US" b="0" baseline="0"/>
              <a:t>Electricity is supplied over a </a:t>
            </a:r>
            <a:r>
              <a:rPr lang="en-US" b="0" baseline="0">
                <a:solidFill>
                  <a:srgbClr val="FF0000"/>
                </a:solidFill>
              </a:rPr>
              <a:t>complex network</a:t>
            </a:r>
          </a:p>
        </p:txBody>
      </p:sp>
      <p:sp>
        <p:nvSpPr>
          <p:cNvPr id="2" name="TextBox 1"/>
          <p:cNvSpPr txBox="1"/>
          <p:nvPr/>
        </p:nvSpPr>
        <p:spPr>
          <a:xfrm>
            <a:off x="7101984" y="1285753"/>
            <a:ext cx="987693" cy="646331"/>
          </a:xfrm>
          <a:prstGeom prst="rect">
            <a:avLst/>
          </a:prstGeom>
          <a:noFill/>
        </p:spPr>
        <p:txBody>
          <a:bodyPr wrap="square" rtlCol="0">
            <a:spAutoFit/>
          </a:bodyPr>
          <a:lstStyle/>
          <a:p>
            <a:r>
              <a:rPr lang="en-US" dirty="0" smtClean="0">
                <a:solidFill>
                  <a:srgbClr val="FF0000"/>
                </a:solidFill>
              </a:rPr>
              <a:t>EHV 400kV</a:t>
            </a:r>
            <a:endParaRPr lang="en-US" dirty="0">
              <a:solidFill>
                <a:srgbClr val="FF0000"/>
              </a:solidFill>
            </a:endParaRPr>
          </a:p>
        </p:txBody>
      </p:sp>
      <p:sp>
        <p:nvSpPr>
          <p:cNvPr id="3" name="TextBox 2"/>
          <p:cNvSpPr txBox="1"/>
          <p:nvPr/>
        </p:nvSpPr>
        <p:spPr>
          <a:xfrm>
            <a:off x="7101984" y="2681264"/>
            <a:ext cx="658462" cy="646331"/>
          </a:xfrm>
          <a:prstGeom prst="rect">
            <a:avLst/>
          </a:prstGeom>
          <a:noFill/>
        </p:spPr>
        <p:txBody>
          <a:bodyPr wrap="square" rtlCol="0">
            <a:spAutoFit/>
          </a:bodyPr>
          <a:lstStyle/>
          <a:p>
            <a:r>
              <a:rPr lang="en-US" dirty="0" smtClean="0">
                <a:solidFill>
                  <a:srgbClr val="FF0000"/>
                </a:solidFill>
              </a:rPr>
              <a:t>HV 11kV</a:t>
            </a:r>
            <a:endParaRPr lang="en-US" dirty="0">
              <a:solidFill>
                <a:srgbClr val="FF0000"/>
              </a:solidFill>
            </a:endParaRPr>
          </a:p>
        </p:txBody>
      </p:sp>
      <p:sp>
        <p:nvSpPr>
          <p:cNvPr id="4" name="TextBox 3"/>
          <p:cNvSpPr txBox="1"/>
          <p:nvPr/>
        </p:nvSpPr>
        <p:spPr>
          <a:xfrm>
            <a:off x="7101984" y="5001890"/>
            <a:ext cx="1113114" cy="646331"/>
          </a:xfrm>
          <a:prstGeom prst="rect">
            <a:avLst/>
          </a:prstGeom>
          <a:noFill/>
        </p:spPr>
        <p:txBody>
          <a:bodyPr wrap="square" rtlCol="0">
            <a:spAutoFit/>
          </a:bodyPr>
          <a:lstStyle/>
          <a:p>
            <a:r>
              <a:rPr lang="en-US" dirty="0" smtClean="0">
                <a:solidFill>
                  <a:srgbClr val="FF0000"/>
                </a:solidFill>
              </a:rPr>
              <a:t>LV </a:t>
            </a:r>
          </a:p>
          <a:p>
            <a:r>
              <a:rPr lang="en-US" dirty="0" smtClean="0">
                <a:solidFill>
                  <a:srgbClr val="FF0000"/>
                </a:solidFill>
              </a:rPr>
              <a:t>400V</a:t>
            </a:r>
            <a:endParaRPr lang="en-US" dirty="0">
              <a:solidFill>
                <a:srgbClr val="FF0000"/>
              </a:solidFill>
            </a:endParaRPr>
          </a:p>
        </p:txBody>
      </p:sp>
    </p:spTree>
    <p:extLst>
      <p:ext uri="{BB962C8B-B14F-4D97-AF65-F5344CB8AC3E}">
        <p14:creationId xmlns:p14="http://schemas.microsoft.com/office/powerpoint/2010/main" val="2714298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19402.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679" y="62720"/>
            <a:ext cx="5703880" cy="6711001"/>
          </a:xfrm>
          <a:prstGeom prst="rect">
            <a:avLst/>
          </a:prstGeom>
        </p:spPr>
      </p:pic>
      <p:sp>
        <p:nvSpPr>
          <p:cNvPr id="9" name="TextBox 8"/>
          <p:cNvSpPr txBox="1"/>
          <p:nvPr/>
        </p:nvSpPr>
        <p:spPr>
          <a:xfrm>
            <a:off x="5283374" y="423358"/>
            <a:ext cx="3135534" cy="461665"/>
          </a:xfrm>
          <a:prstGeom prst="rect">
            <a:avLst/>
          </a:prstGeom>
          <a:noFill/>
        </p:spPr>
        <p:txBody>
          <a:bodyPr wrap="square" rtlCol="0">
            <a:spAutoFit/>
          </a:bodyPr>
          <a:lstStyle/>
          <a:p>
            <a:r>
              <a:rPr lang="en-US" sz="2400" dirty="0" smtClean="0">
                <a:solidFill>
                  <a:srgbClr val="FF0000"/>
                </a:solidFill>
              </a:rPr>
              <a:t>UK National EHV Grid</a:t>
            </a:r>
            <a:endParaRPr lang="en-US" sz="2400" dirty="0">
              <a:solidFill>
                <a:srgbClr val="FF0000"/>
              </a:solidFill>
            </a:endParaRPr>
          </a:p>
        </p:txBody>
      </p:sp>
    </p:spTree>
    <p:extLst>
      <p:ext uri="{BB962C8B-B14F-4D97-AF65-F5344CB8AC3E}">
        <p14:creationId xmlns:p14="http://schemas.microsoft.com/office/powerpoint/2010/main" val="244388730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idx="4294967295"/>
          </p:nvPr>
        </p:nvSpPr>
        <p:spPr/>
        <p:txBody>
          <a:bodyPr/>
          <a:lstStyle/>
          <a:p>
            <a:r>
              <a:rPr lang="en-US" sz="2400">
                <a:solidFill>
                  <a:srgbClr val="FF0000"/>
                </a:solidFill>
                <a:latin typeface="Arial" charset="0"/>
              </a:rPr>
              <a:t>Eg. Eindhoven sub-network</a:t>
            </a:r>
            <a:endParaRPr lang="en-US">
              <a:latin typeface="Arial" charset="0"/>
            </a:endParaRPr>
          </a:p>
        </p:txBody>
      </p:sp>
      <p:grpSp>
        <p:nvGrpSpPr>
          <p:cNvPr id="41986" name="Group 3"/>
          <p:cNvGrpSpPr>
            <a:grpSpLocks noChangeAspect="1"/>
          </p:cNvGrpSpPr>
          <p:nvPr/>
        </p:nvGrpSpPr>
        <p:grpSpPr bwMode="auto">
          <a:xfrm>
            <a:off x="1295400" y="1600200"/>
            <a:ext cx="7239000" cy="5568950"/>
            <a:chOff x="2205" y="3713"/>
            <a:chExt cx="11653" cy="8963"/>
          </a:xfrm>
        </p:grpSpPr>
        <p:sp>
          <p:nvSpPr>
            <p:cNvPr id="41988" name="AutoShape 107"/>
            <p:cNvSpPr>
              <a:spLocks noChangeAspect="1" noChangeArrowheads="1" noTextEdit="1"/>
            </p:cNvSpPr>
            <p:nvPr/>
          </p:nvSpPr>
          <p:spPr bwMode="auto">
            <a:xfrm>
              <a:off x="2205" y="3713"/>
              <a:ext cx="11653" cy="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989" name="Oval 106"/>
            <p:cNvSpPr>
              <a:spLocks noChangeArrowheads="1"/>
            </p:cNvSpPr>
            <p:nvPr/>
          </p:nvSpPr>
          <p:spPr bwMode="auto">
            <a:xfrm>
              <a:off x="2387" y="7251"/>
              <a:ext cx="544" cy="54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1990" name="Text Box 105"/>
            <p:cNvSpPr txBox="1">
              <a:spLocks noChangeArrowheads="1"/>
            </p:cNvSpPr>
            <p:nvPr/>
          </p:nvSpPr>
          <p:spPr bwMode="auto">
            <a:xfrm>
              <a:off x="2205" y="7252"/>
              <a:ext cx="9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ctr" eaLnBrk="1" hangingPunct="1"/>
              <a:r>
                <a:rPr lang="nl-NL" sz="1100">
                  <a:solidFill>
                    <a:srgbClr val="9933FF"/>
                  </a:solidFill>
                  <a:latin typeface="Arial" charset="0"/>
                  <a:ea typeface="ヒラギノ角ゴ Pro W3" charset="0"/>
                  <a:cs typeface="ヒラギノ角ゴ Pro W3" charset="0"/>
                </a:rPr>
                <a:t>V1</a:t>
              </a:r>
              <a:endParaRPr lang="nl-NL" sz="1800">
                <a:latin typeface="Arial" charset="0"/>
                <a:ea typeface="ヒラギノ角ゴ Pro W3" charset="0"/>
                <a:cs typeface="ヒラギノ角ゴ Pro W3" charset="0"/>
              </a:endParaRPr>
            </a:p>
          </p:txBody>
        </p:sp>
        <p:sp>
          <p:nvSpPr>
            <p:cNvPr id="41991" name="Oval 104"/>
            <p:cNvSpPr>
              <a:spLocks noChangeArrowheads="1"/>
            </p:cNvSpPr>
            <p:nvPr/>
          </p:nvSpPr>
          <p:spPr bwMode="auto">
            <a:xfrm>
              <a:off x="12457" y="10517"/>
              <a:ext cx="544" cy="54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1992" name="Text Box 103"/>
            <p:cNvSpPr txBox="1">
              <a:spLocks noChangeArrowheads="1"/>
            </p:cNvSpPr>
            <p:nvPr/>
          </p:nvSpPr>
          <p:spPr bwMode="auto">
            <a:xfrm>
              <a:off x="12363" y="10517"/>
              <a:ext cx="728"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ctr" eaLnBrk="1" hangingPunct="1"/>
              <a:r>
                <a:rPr lang="nl-NL" sz="1100">
                  <a:solidFill>
                    <a:srgbClr val="9933FF"/>
                  </a:solidFill>
                  <a:latin typeface="Arial" charset="0"/>
                  <a:ea typeface="ヒラギノ角ゴ Pro W3" charset="0"/>
                  <a:cs typeface="ヒラギノ角ゴ Pro W3" charset="0"/>
                </a:rPr>
                <a:t>V2</a:t>
              </a:r>
              <a:endParaRPr lang="nl-NL" sz="1800">
                <a:latin typeface="Arial" charset="0"/>
                <a:ea typeface="ヒラギノ角ゴ Pro W3" charset="0"/>
                <a:cs typeface="ヒラギノ角ゴ Pro W3" charset="0"/>
              </a:endParaRPr>
            </a:p>
          </p:txBody>
        </p:sp>
        <p:sp>
          <p:nvSpPr>
            <p:cNvPr id="41993" name="Line 102"/>
            <p:cNvSpPr>
              <a:spLocks noChangeShapeType="1"/>
            </p:cNvSpPr>
            <p:nvPr/>
          </p:nvSpPr>
          <p:spPr bwMode="auto">
            <a:xfrm>
              <a:off x="2931" y="7523"/>
              <a:ext cx="54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4" name="Line 101"/>
            <p:cNvSpPr>
              <a:spLocks noChangeShapeType="1"/>
            </p:cNvSpPr>
            <p:nvPr/>
          </p:nvSpPr>
          <p:spPr bwMode="auto">
            <a:xfrm>
              <a:off x="3475" y="7068"/>
              <a:ext cx="0" cy="998"/>
            </a:xfrm>
            <a:prstGeom prst="line">
              <a:avLst/>
            </a:prstGeom>
            <a:noFill/>
            <a:ln w="19050">
              <a:solidFill>
                <a:srgbClr val="9933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5" name="Oval 100"/>
            <p:cNvSpPr>
              <a:spLocks noChangeArrowheads="1"/>
            </p:cNvSpPr>
            <p:nvPr/>
          </p:nvSpPr>
          <p:spPr bwMode="auto">
            <a:xfrm>
              <a:off x="3930" y="7251"/>
              <a:ext cx="452" cy="45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1996" name="Oval 99"/>
            <p:cNvSpPr>
              <a:spLocks noChangeArrowheads="1"/>
            </p:cNvSpPr>
            <p:nvPr/>
          </p:nvSpPr>
          <p:spPr bwMode="auto">
            <a:xfrm>
              <a:off x="4202" y="7251"/>
              <a:ext cx="451" cy="45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1997" name="Line 98"/>
            <p:cNvSpPr>
              <a:spLocks noChangeShapeType="1"/>
            </p:cNvSpPr>
            <p:nvPr/>
          </p:nvSpPr>
          <p:spPr bwMode="auto">
            <a:xfrm>
              <a:off x="3475" y="7523"/>
              <a:ext cx="45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8" name="Line 97"/>
            <p:cNvSpPr>
              <a:spLocks noChangeShapeType="1"/>
            </p:cNvSpPr>
            <p:nvPr/>
          </p:nvSpPr>
          <p:spPr bwMode="auto">
            <a:xfrm>
              <a:off x="4655" y="7523"/>
              <a:ext cx="45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9" name="Line 96"/>
            <p:cNvSpPr>
              <a:spLocks noChangeShapeType="1"/>
            </p:cNvSpPr>
            <p:nvPr/>
          </p:nvSpPr>
          <p:spPr bwMode="auto">
            <a:xfrm>
              <a:off x="5109" y="6707"/>
              <a:ext cx="0" cy="16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0" name="Line 95"/>
            <p:cNvSpPr>
              <a:spLocks noChangeShapeType="1"/>
            </p:cNvSpPr>
            <p:nvPr/>
          </p:nvSpPr>
          <p:spPr bwMode="auto">
            <a:xfrm rot="5400000">
              <a:off x="8421" y="4029"/>
              <a:ext cx="0" cy="9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1" name="Line 94"/>
            <p:cNvSpPr>
              <a:spLocks noChangeShapeType="1"/>
            </p:cNvSpPr>
            <p:nvPr/>
          </p:nvSpPr>
          <p:spPr bwMode="auto">
            <a:xfrm>
              <a:off x="5109" y="6887"/>
              <a:ext cx="817" cy="0"/>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2" name="Line 93"/>
            <p:cNvSpPr>
              <a:spLocks noChangeShapeType="1"/>
            </p:cNvSpPr>
            <p:nvPr/>
          </p:nvSpPr>
          <p:spPr bwMode="auto">
            <a:xfrm>
              <a:off x="5109" y="7523"/>
              <a:ext cx="2902"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3" name="Line 92"/>
            <p:cNvSpPr>
              <a:spLocks noChangeShapeType="1"/>
            </p:cNvSpPr>
            <p:nvPr/>
          </p:nvSpPr>
          <p:spPr bwMode="auto">
            <a:xfrm>
              <a:off x="8102" y="4528"/>
              <a:ext cx="0" cy="2904"/>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4" name="Oval 91"/>
            <p:cNvSpPr>
              <a:spLocks noChangeArrowheads="1"/>
            </p:cNvSpPr>
            <p:nvPr/>
          </p:nvSpPr>
          <p:spPr bwMode="auto">
            <a:xfrm>
              <a:off x="8011" y="7432"/>
              <a:ext cx="183" cy="183"/>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05" name="Line 90"/>
            <p:cNvSpPr>
              <a:spLocks noChangeShapeType="1"/>
            </p:cNvSpPr>
            <p:nvPr/>
          </p:nvSpPr>
          <p:spPr bwMode="auto">
            <a:xfrm>
              <a:off x="8102" y="7523"/>
              <a:ext cx="545" cy="362"/>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6" name="Line 89"/>
            <p:cNvSpPr>
              <a:spLocks noChangeShapeType="1"/>
            </p:cNvSpPr>
            <p:nvPr/>
          </p:nvSpPr>
          <p:spPr bwMode="auto">
            <a:xfrm flipV="1">
              <a:off x="8375" y="4075"/>
              <a:ext cx="0" cy="453"/>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7" name="Line 88"/>
            <p:cNvSpPr>
              <a:spLocks noChangeShapeType="1"/>
            </p:cNvSpPr>
            <p:nvPr/>
          </p:nvSpPr>
          <p:spPr bwMode="auto">
            <a:xfrm>
              <a:off x="8647" y="4528"/>
              <a:ext cx="0" cy="81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8" name="Line 87"/>
            <p:cNvSpPr>
              <a:spLocks noChangeShapeType="1"/>
            </p:cNvSpPr>
            <p:nvPr/>
          </p:nvSpPr>
          <p:spPr bwMode="auto">
            <a:xfrm>
              <a:off x="8647" y="5344"/>
              <a:ext cx="1632"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9" name="Oval 86"/>
            <p:cNvSpPr>
              <a:spLocks noChangeArrowheads="1"/>
            </p:cNvSpPr>
            <p:nvPr/>
          </p:nvSpPr>
          <p:spPr bwMode="auto">
            <a:xfrm>
              <a:off x="10279" y="5255"/>
              <a:ext cx="183" cy="182"/>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10" name="Oval 85"/>
            <p:cNvSpPr>
              <a:spLocks noChangeArrowheads="1"/>
            </p:cNvSpPr>
            <p:nvPr/>
          </p:nvSpPr>
          <p:spPr bwMode="auto">
            <a:xfrm>
              <a:off x="11639" y="6253"/>
              <a:ext cx="182" cy="182"/>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11" name="Oval 84"/>
            <p:cNvSpPr>
              <a:spLocks noChangeArrowheads="1"/>
            </p:cNvSpPr>
            <p:nvPr/>
          </p:nvSpPr>
          <p:spPr bwMode="auto">
            <a:xfrm>
              <a:off x="10190" y="6707"/>
              <a:ext cx="181" cy="181"/>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12" name="Line 83"/>
            <p:cNvSpPr>
              <a:spLocks noChangeShapeType="1"/>
            </p:cNvSpPr>
            <p:nvPr/>
          </p:nvSpPr>
          <p:spPr bwMode="auto">
            <a:xfrm>
              <a:off x="11821" y="6343"/>
              <a:ext cx="908" cy="453"/>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3" name="Line 82"/>
            <p:cNvSpPr>
              <a:spLocks noChangeShapeType="1"/>
            </p:cNvSpPr>
            <p:nvPr/>
          </p:nvSpPr>
          <p:spPr bwMode="auto">
            <a:xfrm>
              <a:off x="12729" y="6707"/>
              <a:ext cx="0" cy="235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4" name="Line 81"/>
            <p:cNvSpPr>
              <a:spLocks noChangeShapeType="1"/>
            </p:cNvSpPr>
            <p:nvPr/>
          </p:nvSpPr>
          <p:spPr bwMode="auto">
            <a:xfrm flipV="1">
              <a:off x="11731" y="5889"/>
              <a:ext cx="454" cy="454"/>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5" name="Line 80"/>
            <p:cNvSpPr>
              <a:spLocks noChangeShapeType="1"/>
            </p:cNvSpPr>
            <p:nvPr/>
          </p:nvSpPr>
          <p:spPr bwMode="auto">
            <a:xfrm flipV="1">
              <a:off x="10279" y="6343"/>
              <a:ext cx="1452" cy="45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6" name="Oval 79"/>
            <p:cNvSpPr>
              <a:spLocks noChangeArrowheads="1"/>
            </p:cNvSpPr>
            <p:nvPr/>
          </p:nvSpPr>
          <p:spPr bwMode="auto">
            <a:xfrm>
              <a:off x="12547" y="9064"/>
              <a:ext cx="452" cy="45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2017" name="Oval 78"/>
            <p:cNvSpPr>
              <a:spLocks noChangeArrowheads="1"/>
            </p:cNvSpPr>
            <p:nvPr/>
          </p:nvSpPr>
          <p:spPr bwMode="auto">
            <a:xfrm>
              <a:off x="12547" y="9336"/>
              <a:ext cx="452" cy="45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2018" name="Line 77"/>
            <p:cNvSpPr>
              <a:spLocks noChangeShapeType="1"/>
            </p:cNvSpPr>
            <p:nvPr/>
          </p:nvSpPr>
          <p:spPr bwMode="auto">
            <a:xfrm>
              <a:off x="12729" y="9790"/>
              <a:ext cx="0" cy="72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19" name="Oval 76"/>
            <p:cNvSpPr>
              <a:spLocks noChangeArrowheads="1"/>
            </p:cNvSpPr>
            <p:nvPr/>
          </p:nvSpPr>
          <p:spPr bwMode="auto">
            <a:xfrm>
              <a:off x="12547" y="9336"/>
              <a:ext cx="452" cy="454"/>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latin typeface="Calibri" charset="0"/>
              </a:endParaRPr>
            </a:p>
          </p:txBody>
        </p:sp>
        <p:sp>
          <p:nvSpPr>
            <p:cNvPr id="42020" name="Line 75"/>
            <p:cNvSpPr>
              <a:spLocks noChangeShapeType="1"/>
            </p:cNvSpPr>
            <p:nvPr/>
          </p:nvSpPr>
          <p:spPr bwMode="auto">
            <a:xfrm rot="5400000">
              <a:off x="12683" y="8112"/>
              <a:ext cx="0" cy="118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21" name="Line 74"/>
            <p:cNvSpPr>
              <a:spLocks noChangeShapeType="1"/>
            </p:cNvSpPr>
            <p:nvPr/>
          </p:nvSpPr>
          <p:spPr bwMode="auto">
            <a:xfrm flipV="1">
              <a:off x="13091" y="7977"/>
              <a:ext cx="0" cy="725"/>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2" name="Line 73"/>
            <p:cNvSpPr>
              <a:spLocks noChangeShapeType="1"/>
            </p:cNvSpPr>
            <p:nvPr/>
          </p:nvSpPr>
          <p:spPr bwMode="auto">
            <a:xfrm>
              <a:off x="10370" y="5344"/>
              <a:ext cx="1361" cy="9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23" name="Oval 72"/>
            <p:cNvSpPr>
              <a:spLocks noChangeArrowheads="1"/>
            </p:cNvSpPr>
            <p:nvPr/>
          </p:nvSpPr>
          <p:spPr bwMode="auto">
            <a:xfrm>
              <a:off x="12637" y="6707"/>
              <a:ext cx="182" cy="181"/>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24" name="Line 71"/>
            <p:cNvSpPr>
              <a:spLocks noChangeShapeType="1"/>
            </p:cNvSpPr>
            <p:nvPr/>
          </p:nvSpPr>
          <p:spPr bwMode="auto">
            <a:xfrm flipH="1">
              <a:off x="12275" y="6796"/>
              <a:ext cx="454" cy="363"/>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5" name="Line 70"/>
            <p:cNvSpPr>
              <a:spLocks noChangeShapeType="1"/>
            </p:cNvSpPr>
            <p:nvPr/>
          </p:nvSpPr>
          <p:spPr bwMode="auto">
            <a:xfrm flipH="1">
              <a:off x="10007" y="6796"/>
              <a:ext cx="272" cy="363"/>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6" name="Line 69"/>
            <p:cNvSpPr>
              <a:spLocks noChangeShapeType="1"/>
            </p:cNvSpPr>
            <p:nvPr/>
          </p:nvSpPr>
          <p:spPr bwMode="auto">
            <a:xfrm>
              <a:off x="5109" y="8157"/>
              <a:ext cx="4536" cy="1816"/>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27" name="Oval 68"/>
            <p:cNvSpPr>
              <a:spLocks noChangeArrowheads="1"/>
            </p:cNvSpPr>
            <p:nvPr/>
          </p:nvSpPr>
          <p:spPr bwMode="auto">
            <a:xfrm>
              <a:off x="7103" y="8882"/>
              <a:ext cx="182" cy="182"/>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28" name="Line 67"/>
            <p:cNvSpPr>
              <a:spLocks noChangeShapeType="1"/>
            </p:cNvSpPr>
            <p:nvPr/>
          </p:nvSpPr>
          <p:spPr bwMode="auto">
            <a:xfrm>
              <a:off x="7195" y="9064"/>
              <a:ext cx="0" cy="454"/>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9" name="Oval 66"/>
            <p:cNvSpPr>
              <a:spLocks noChangeArrowheads="1"/>
            </p:cNvSpPr>
            <p:nvPr/>
          </p:nvSpPr>
          <p:spPr bwMode="auto">
            <a:xfrm>
              <a:off x="8466" y="9426"/>
              <a:ext cx="181" cy="182"/>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30" name="Oval 65"/>
            <p:cNvSpPr>
              <a:spLocks noChangeArrowheads="1"/>
            </p:cNvSpPr>
            <p:nvPr/>
          </p:nvSpPr>
          <p:spPr bwMode="auto">
            <a:xfrm>
              <a:off x="9099" y="8793"/>
              <a:ext cx="182" cy="181"/>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31" name="Line 64"/>
            <p:cNvSpPr>
              <a:spLocks noChangeShapeType="1"/>
            </p:cNvSpPr>
            <p:nvPr/>
          </p:nvSpPr>
          <p:spPr bwMode="auto">
            <a:xfrm flipV="1">
              <a:off x="8555" y="8882"/>
              <a:ext cx="634" cy="636"/>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32" name="Line 63"/>
            <p:cNvSpPr>
              <a:spLocks noChangeShapeType="1"/>
            </p:cNvSpPr>
            <p:nvPr/>
          </p:nvSpPr>
          <p:spPr bwMode="auto">
            <a:xfrm>
              <a:off x="9645" y="9973"/>
              <a:ext cx="0" cy="7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33" name="Line 62"/>
            <p:cNvSpPr>
              <a:spLocks noChangeShapeType="1"/>
            </p:cNvSpPr>
            <p:nvPr/>
          </p:nvSpPr>
          <p:spPr bwMode="auto">
            <a:xfrm rot="5400000">
              <a:off x="9780" y="10199"/>
              <a:ext cx="0" cy="9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34" name="Line 61"/>
            <p:cNvSpPr>
              <a:spLocks noChangeShapeType="1"/>
            </p:cNvSpPr>
            <p:nvPr/>
          </p:nvSpPr>
          <p:spPr bwMode="auto">
            <a:xfrm>
              <a:off x="9825" y="10698"/>
              <a:ext cx="0" cy="634"/>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5" name="Line 60"/>
            <p:cNvSpPr>
              <a:spLocks noChangeShapeType="1"/>
            </p:cNvSpPr>
            <p:nvPr/>
          </p:nvSpPr>
          <p:spPr bwMode="auto">
            <a:xfrm flipV="1">
              <a:off x="9191" y="8430"/>
              <a:ext cx="454" cy="454"/>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6" name="Oval 59"/>
            <p:cNvSpPr>
              <a:spLocks noChangeArrowheads="1"/>
            </p:cNvSpPr>
            <p:nvPr/>
          </p:nvSpPr>
          <p:spPr bwMode="auto">
            <a:xfrm>
              <a:off x="8194" y="10606"/>
              <a:ext cx="181" cy="183"/>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37" name="Line 58"/>
            <p:cNvSpPr>
              <a:spLocks noChangeShapeType="1"/>
            </p:cNvSpPr>
            <p:nvPr/>
          </p:nvSpPr>
          <p:spPr bwMode="auto">
            <a:xfrm flipH="1">
              <a:off x="8283" y="9518"/>
              <a:ext cx="272" cy="10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38" name="Line 57"/>
            <p:cNvSpPr>
              <a:spLocks noChangeShapeType="1"/>
            </p:cNvSpPr>
            <p:nvPr/>
          </p:nvSpPr>
          <p:spPr bwMode="auto">
            <a:xfrm flipH="1">
              <a:off x="8011" y="10698"/>
              <a:ext cx="272" cy="363"/>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9" name="Line 56"/>
            <p:cNvSpPr>
              <a:spLocks noChangeShapeType="1"/>
            </p:cNvSpPr>
            <p:nvPr/>
          </p:nvSpPr>
          <p:spPr bwMode="auto">
            <a:xfrm flipV="1">
              <a:off x="9918" y="8702"/>
              <a:ext cx="2539" cy="1996"/>
            </a:xfrm>
            <a:prstGeom prst="line">
              <a:avLst/>
            </a:prstGeom>
            <a:noFill/>
            <a:ln w="158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40" name="Text Box 55"/>
            <p:cNvSpPr txBox="1">
              <a:spLocks noChangeArrowheads="1"/>
            </p:cNvSpPr>
            <p:nvPr/>
          </p:nvSpPr>
          <p:spPr bwMode="auto">
            <a:xfrm>
              <a:off x="3838" y="6886"/>
              <a:ext cx="99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ctr" eaLnBrk="1" hangingPunct="1"/>
              <a:r>
                <a:rPr lang="nl-NL" sz="900" b="1">
                  <a:solidFill>
                    <a:srgbClr val="CC3300"/>
                  </a:solidFill>
                  <a:latin typeface="Arial" charset="0"/>
                  <a:ea typeface="ヒラギノ角ゴ Pro W3" charset="0"/>
                  <a:cs typeface="ヒラギノ角ゴ Pro W3" charset="0"/>
                </a:rPr>
                <a:t>TR-1</a:t>
              </a:r>
              <a:endParaRPr lang="nl-NL" sz="1800">
                <a:latin typeface="Arial" charset="0"/>
                <a:ea typeface="ヒラギノ角ゴ Pro W3" charset="0"/>
                <a:cs typeface="ヒラギノ角ゴ Pro W3" charset="0"/>
              </a:endParaRPr>
            </a:p>
          </p:txBody>
        </p:sp>
        <p:sp>
          <p:nvSpPr>
            <p:cNvPr id="42041" name="Text Box 54"/>
            <p:cNvSpPr txBox="1">
              <a:spLocks noChangeArrowheads="1"/>
            </p:cNvSpPr>
            <p:nvPr/>
          </p:nvSpPr>
          <p:spPr bwMode="auto">
            <a:xfrm>
              <a:off x="11732" y="9247"/>
              <a:ext cx="996"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ctr" eaLnBrk="1" hangingPunct="1"/>
              <a:r>
                <a:rPr lang="nl-NL" sz="900" b="1">
                  <a:solidFill>
                    <a:srgbClr val="CC3300"/>
                  </a:solidFill>
                  <a:latin typeface="Arial" charset="0"/>
                  <a:ea typeface="ヒラギノ角ゴ Pro W3" charset="0"/>
                  <a:cs typeface="ヒラギノ角ゴ Pro W3" charset="0"/>
                </a:rPr>
                <a:t>TR-2</a:t>
              </a:r>
              <a:endParaRPr lang="nl-NL" sz="1800">
                <a:latin typeface="Arial" charset="0"/>
                <a:ea typeface="ヒラギノ角ゴ Pro W3" charset="0"/>
                <a:cs typeface="ヒラギノ角ゴ Pro W3" charset="0"/>
              </a:endParaRPr>
            </a:p>
          </p:txBody>
        </p:sp>
        <p:sp>
          <p:nvSpPr>
            <p:cNvPr id="42042" name="Line 53"/>
            <p:cNvSpPr>
              <a:spLocks noChangeShapeType="1"/>
            </p:cNvSpPr>
            <p:nvPr/>
          </p:nvSpPr>
          <p:spPr bwMode="auto">
            <a:xfrm flipH="1" flipV="1">
              <a:off x="11639" y="5072"/>
              <a:ext cx="90" cy="118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43" name="Oval 52"/>
            <p:cNvSpPr>
              <a:spLocks noChangeArrowheads="1"/>
            </p:cNvSpPr>
            <p:nvPr/>
          </p:nvSpPr>
          <p:spPr bwMode="auto">
            <a:xfrm>
              <a:off x="11549" y="5164"/>
              <a:ext cx="182" cy="183"/>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44" name="Line 51"/>
            <p:cNvSpPr>
              <a:spLocks noChangeShapeType="1"/>
            </p:cNvSpPr>
            <p:nvPr/>
          </p:nvSpPr>
          <p:spPr bwMode="auto">
            <a:xfrm flipV="1">
              <a:off x="11639" y="4711"/>
              <a:ext cx="92" cy="544"/>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5" name="Oval 50"/>
            <p:cNvSpPr>
              <a:spLocks noChangeArrowheads="1"/>
            </p:cNvSpPr>
            <p:nvPr/>
          </p:nvSpPr>
          <p:spPr bwMode="auto">
            <a:xfrm>
              <a:off x="9553" y="9880"/>
              <a:ext cx="182" cy="182"/>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46" name="Line 49"/>
            <p:cNvSpPr>
              <a:spLocks noChangeShapeType="1"/>
            </p:cNvSpPr>
            <p:nvPr/>
          </p:nvSpPr>
          <p:spPr bwMode="auto">
            <a:xfrm>
              <a:off x="2659" y="10426"/>
              <a:ext cx="364"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47" name="Text Box 48"/>
            <p:cNvSpPr txBox="1">
              <a:spLocks noChangeArrowheads="1"/>
            </p:cNvSpPr>
            <p:nvPr/>
          </p:nvSpPr>
          <p:spPr bwMode="auto">
            <a:xfrm>
              <a:off x="2386" y="9791"/>
              <a:ext cx="172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en-US" sz="900" u="sng">
                  <a:solidFill>
                    <a:srgbClr val="000000"/>
                  </a:solidFill>
                  <a:latin typeface="Arial" charset="0"/>
                  <a:ea typeface="ヒラギノ角ゴ Pro W3" charset="0"/>
                  <a:cs typeface="ヒラギノ角ゴ Pro W3" charset="0"/>
                </a:rPr>
                <a:t>Nomenclature</a:t>
              </a:r>
              <a:endParaRPr lang="en-US" sz="1800">
                <a:latin typeface="Arial" charset="0"/>
                <a:ea typeface="ヒラギノ角ゴ Pro W3" charset="0"/>
                <a:cs typeface="ヒラギノ角ゴ Pro W3" charset="0"/>
              </a:endParaRPr>
            </a:p>
          </p:txBody>
        </p:sp>
        <p:sp>
          <p:nvSpPr>
            <p:cNvPr id="42048" name="Line 47"/>
            <p:cNvSpPr>
              <a:spLocks noChangeShapeType="1"/>
            </p:cNvSpPr>
            <p:nvPr/>
          </p:nvSpPr>
          <p:spPr bwMode="auto">
            <a:xfrm>
              <a:off x="2659" y="10789"/>
              <a:ext cx="3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49" name="Text Box 46"/>
            <p:cNvSpPr txBox="1">
              <a:spLocks noChangeArrowheads="1"/>
            </p:cNvSpPr>
            <p:nvPr/>
          </p:nvSpPr>
          <p:spPr bwMode="auto">
            <a:xfrm>
              <a:off x="3115" y="10246"/>
              <a:ext cx="353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GPLK 4*50 Cu (paper insulated cable)</a:t>
              </a:r>
              <a:endParaRPr lang="nl-NL" sz="1800">
                <a:latin typeface="Arial" charset="0"/>
                <a:ea typeface="ヒラギノ角ゴ Pro W3" charset="0"/>
                <a:cs typeface="ヒラギノ角ゴ Pro W3" charset="0"/>
              </a:endParaRPr>
            </a:p>
          </p:txBody>
        </p:sp>
        <p:sp>
          <p:nvSpPr>
            <p:cNvPr id="42050" name="Text Box 45"/>
            <p:cNvSpPr txBox="1">
              <a:spLocks noChangeArrowheads="1"/>
            </p:cNvSpPr>
            <p:nvPr/>
          </p:nvSpPr>
          <p:spPr bwMode="auto">
            <a:xfrm>
              <a:off x="3115" y="10606"/>
              <a:ext cx="38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VVMvKsas 4*95 Al (PVC insulated cable)</a:t>
              </a:r>
              <a:endParaRPr lang="nl-NL" sz="1800">
                <a:latin typeface="Arial" charset="0"/>
                <a:ea typeface="ヒラギノ角ゴ Pro W3" charset="0"/>
                <a:cs typeface="ヒラギノ角ゴ Pro W3" charset="0"/>
              </a:endParaRPr>
            </a:p>
          </p:txBody>
        </p:sp>
        <p:sp>
          <p:nvSpPr>
            <p:cNvPr id="42051" name="Text Box 44"/>
            <p:cNvSpPr txBox="1">
              <a:spLocks noChangeArrowheads="1"/>
            </p:cNvSpPr>
            <p:nvPr/>
          </p:nvSpPr>
          <p:spPr bwMode="auto">
            <a:xfrm>
              <a:off x="2660" y="11061"/>
              <a:ext cx="279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TR – 10,25kV/400V, 400kVA transformer</a:t>
              </a:r>
              <a:endParaRPr lang="nl-NL" sz="1800">
                <a:latin typeface="Arial" charset="0"/>
                <a:ea typeface="ヒラギノ角ゴ Pro W3" charset="0"/>
                <a:cs typeface="ヒラギノ角ゴ Pro W3" charset="0"/>
              </a:endParaRPr>
            </a:p>
          </p:txBody>
        </p:sp>
        <p:sp>
          <p:nvSpPr>
            <p:cNvPr id="42052" name="Text Box 43"/>
            <p:cNvSpPr txBox="1">
              <a:spLocks noChangeArrowheads="1"/>
            </p:cNvSpPr>
            <p:nvPr/>
          </p:nvSpPr>
          <p:spPr bwMode="auto">
            <a:xfrm>
              <a:off x="2294" y="7885"/>
              <a:ext cx="1544"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1000" b="1">
                  <a:solidFill>
                    <a:srgbClr val="000000"/>
                  </a:solidFill>
                  <a:latin typeface="Arial" charset="0"/>
                  <a:ea typeface="ヒラギノ角ゴ Pro W3" charset="0"/>
                  <a:cs typeface="ヒラギノ角ゴ Pro W3" charset="0"/>
                </a:rPr>
                <a:t>10kV net</a:t>
              </a:r>
              <a:endParaRPr lang="nl-NL" sz="1800">
                <a:latin typeface="Arial" charset="0"/>
                <a:ea typeface="ヒラギノ角ゴ Pro W3" charset="0"/>
                <a:cs typeface="ヒラギノ角ゴ Pro W3" charset="0"/>
              </a:endParaRPr>
            </a:p>
          </p:txBody>
        </p:sp>
        <p:sp>
          <p:nvSpPr>
            <p:cNvPr id="42053" name="Text Box 42"/>
            <p:cNvSpPr txBox="1">
              <a:spLocks noChangeArrowheads="1"/>
            </p:cNvSpPr>
            <p:nvPr/>
          </p:nvSpPr>
          <p:spPr bwMode="auto">
            <a:xfrm>
              <a:off x="11093" y="10246"/>
              <a:ext cx="1546"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r" eaLnBrk="1" hangingPunct="1"/>
              <a:r>
                <a:rPr lang="nl-NL" sz="1000" b="1">
                  <a:solidFill>
                    <a:srgbClr val="000000"/>
                  </a:solidFill>
                  <a:latin typeface="Arial" charset="0"/>
                  <a:ea typeface="ヒラギノ角ゴ Pro W3" charset="0"/>
                  <a:cs typeface="ヒラギノ角ゴ Pro W3" charset="0"/>
                </a:rPr>
                <a:t>10kV net</a:t>
              </a:r>
              <a:endParaRPr lang="nl-NL" sz="1800">
                <a:latin typeface="Arial" charset="0"/>
                <a:ea typeface="ヒラギノ角ゴ Pro W3" charset="0"/>
                <a:cs typeface="ヒラギノ角ゴ Pro W3" charset="0"/>
              </a:endParaRPr>
            </a:p>
          </p:txBody>
        </p:sp>
        <p:sp>
          <p:nvSpPr>
            <p:cNvPr id="42054" name="Text Box 41"/>
            <p:cNvSpPr txBox="1">
              <a:spLocks noChangeArrowheads="1"/>
            </p:cNvSpPr>
            <p:nvPr/>
          </p:nvSpPr>
          <p:spPr bwMode="auto">
            <a:xfrm>
              <a:off x="4201" y="8430"/>
              <a:ext cx="1541"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1000" b="1">
                  <a:solidFill>
                    <a:srgbClr val="000000"/>
                  </a:solidFill>
                  <a:latin typeface="Arial" charset="0"/>
                  <a:ea typeface="ヒラギノ角ゴ Pro W3" charset="0"/>
                  <a:cs typeface="ヒラギノ角ゴ Pro W3" charset="0"/>
                </a:rPr>
                <a:t>Station-1</a:t>
              </a:r>
              <a:endParaRPr lang="nl-NL" sz="1800">
                <a:latin typeface="Arial" charset="0"/>
                <a:ea typeface="ヒラギノ角ゴ Pro W3" charset="0"/>
                <a:cs typeface="ヒラギノ角ゴ Pro W3" charset="0"/>
              </a:endParaRPr>
            </a:p>
          </p:txBody>
        </p:sp>
        <p:sp>
          <p:nvSpPr>
            <p:cNvPr id="42055" name="Text Box 40"/>
            <p:cNvSpPr txBox="1">
              <a:spLocks noChangeArrowheads="1"/>
            </p:cNvSpPr>
            <p:nvPr/>
          </p:nvSpPr>
          <p:spPr bwMode="auto">
            <a:xfrm>
              <a:off x="10914" y="8338"/>
              <a:ext cx="154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r" eaLnBrk="1" hangingPunct="1"/>
              <a:r>
                <a:rPr lang="nl-NL" sz="1000" b="1">
                  <a:solidFill>
                    <a:srgbClr val="000000"/>
                  </a:solidFill>
                  <a:latin typeface="Arial" charset="0"/>
                  <a:ea typeface="ヒラギノ角ゴ Pro W3" charset="0"/>
                  <a:cs typeface="ヒラギノ角ゴ Pro W3" charset="0"/>
                </a:rPr>
                <a:t>Station-2</a:t>
              </a:r>
              <a:endParaRPr lang="nl-NL" sz="1800">
                <a:latin typeface="Arial" charset="0"/>
                <a:ea typeface="ヒラギノ角ゴ Pro W3" charset="0"/>
                <a:cs typeface="ヒラギノ角ゴ Pro W3" charset="0"/>
              </a:endParaRPr>
            </a:p>
          </p:txBody>
        </p:sp>
        <p:sp>
          <p:nvSpPr>
            <p:cNvPr id="42056" name="Text Box 39"/>
            <p:cNvSpPr txBox="1">
              <a:spLocks noChangeArrowheads="1"/>
            </p:cNvSpPr>
            <p:nvPr/>
          </p:nvSpPr>
          <p:spPr bwMode="auto">
            <a:xfrm>
              <a:off x="8829" y="10696"/>
              <a:ext cx="81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r" eaLnBrk="1" hangingPunct="1"/>
              <a:r>
                <a:rPr lang="nl-NL" sz="700">
                  <a:solidFill>
                    <a:srgbClr val="000000"/>
                  </a:solidFill>
                  <a:latin typeface="Arial" charset="0"/>
                  <a:ea typeface="ヒラギノ角ゴ Pro W3" charset="0"/>
                  <a:cs typeface="ヒラギノ角ゴ Pro W3" charset="0"/>
                </a:rPr>
                <a:t>DB-1</a:t>
              </a:r>
              <a:endParaRPr lang="nl-NL" sz="1800">
                <a:latin typeface="Arial" charset="0"/>
                <a:ea typeface="ヒラギノ角ゴ Pro W3" charset="0"/>
                <a:cs typeface="ヒラギノ角ゴ Pro W3" charset="0"/>
              </a:endParaRPr>
            </a:p>
          </p:txBody>
        </p:sp>
        <p:sp>
          <p:nvSpPr>
            <p:cNvPr id="42057" name="Text Box 38"/>
            <p:cNvSpPr txBox="1">
              <a:spLocks noChangeArrowheads="1"/>
            </p:cNvSpPr>
            <p:nvPr/>
          </p:nvSpPr>
          <p:spPr bwMode="auto">
            <a:xfrm>
              <a:off x="7559" y="4168"/>
              <a:ext cx="81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r" eaLnBrk="1" hangingPunct="1"/>
              <a:r>
                <a:rPr lang="nl-NL" sz="700">
                  <a:solidFill>
                    <a:srgbClr val="000000"/>
                  </a:solidFill>
                  <a:latin typeface="Arial" charset="0"/>
                  <a:ea typeface="ヒラギノ角ゴ Pro W3" charset="0"/>
                  <a:cs typeface="ヒラギノ角ゴ Pro W3" charset="0"/>
                </a:rPr>
                <a:t>DB-2</a:t>
              </a:r>
              <a:endParaRPr lang="nl-NL" sz="1800">
                <a:latin typeface="Arial" charset="0"/>
                <a:ea typeface="ヒラギノ角ゴ Pro W3" charset="0"/>
                <a:cs typeface="ヒラギノ角ゴ Pro W3" charset="0"/>
              </a:endParaRPr>
            </a:p>
          </p:txBody>
        </p:sp>
        <p:sp>
          <p:nvSpPr>
            <p:cNvPr id="42058" name="Oval 37"/>
            <p:cNvSpPr>
              <a:spLocks noChangeArrowheads="1"/>
            </p:cNvSpPr>
            <p:nvPr/>
          </p:nvSpPr>
          <p:spPr bwMode="auto">
            <a:xfrm>
              <a:off x="2841" y="11514"/>
              <a:ext cx="182" cy="182"/>
            </a:xfrm>
            <a:prstGeom prst="ellipse">
              <a:avLst/>
            </a:prstGeom>
            <a:solidFill>
              <a:srgbClr val="000000"/>
            </a:solidFill>
            <a:ln w="9525">
              <a:solidFill>
                <a:srgbClr val="000000"/>
              </a:solidFill>
              <a:round/>
              <a:headEnd/>
              <a:tailEnd/>
            </a:ln>
          </p:spPr>
          <p:txBody>
            <a:bodyPr wrap="none" anchor="ctr"/>
            <a:lstStyle/>
            <a:p>
              <a:endParaRPr lang="en-US" sz="1800">
                <a:latin typeface="Calibri" charset="0"/>
              </a:endParaRPr>
            </a:p>
          </p:txBody>
        </p:sp>
        <p:sp>
          <p:nvSpPr>
            <p:cNvPr id="42059" name="Text Box 36"/>
            <p:cNvSpPr txBox="1">
              <a:spLocks noChangeArrowheads="1"/>
            </p:cNvSpPr>
            <p:nvPr/>
          </p:nvSpPr>
          <p:spPr bwMode="auto">
            <a:xfrm>
              <a:off x="3296" y="11424"/>
              <a:ext cx="35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Node point</a:t>
              </a:r>
              <a:endParaRPr lang="nl-NL" sz="1800">
                <a:latin typeface="Arial" charset="0"/>
                <a:ea typeface="ヒラギノ角ゴ Pro W3" charset="0"/>
                <a:cs typeface="ヒラギノ角ゴ Pro W3" charset="0"/>
              </a:endParaRPr>
            </a:p>
          </p:txBody>
        </p:sp>
        <p:sp>
          <p:nvSpPr>
            <p:cNvPr id="42060" name="Text Box 35"/>
            <p:cNvSpPr txBox="1">
              <a:spLocks noChangeArrowheads="1"/>
            </p:cNvSpPr>
            <p:nvPr/>
          </p:nvSpPr>
          <p:spPr bwMode="auto">
            <a:xfrm>
              <a:off x="5834" y="7525"/>
              <a:ext cx="81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100m</a:t>
              </a:r>
              <a:endParaRPr lang="nl-NL" sz="1800">
                <a:latin typeface="Arial" charset="0"/>
                <a:ea typeface="ヒラギノ角ゴ Pro W3" charset="0"/>
                <a:cs typeface="ヒラギノ角ゴ Pro W3" charset="0"/>
              </a:endParaRPr>
            </a:p>
          </p:txBody>
        </p:sp>
        <p:sp>
          <p:nvSpPr>
            <p:cNvPr id="42061" name="Text Box 34"/>
            <p:cNvSpPr txBox="1">
              <a:spLocks noChangeArrowheads="1"/>
            </p:cNvSpPr>
            <p:nvPr/>
          </p:nvSpPr>
          <p:spPr bwMode="auto">
            <a:xfrm>
              <a:off x="7285" y="5982"/>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120m</a:t>
              </a:r>
              <a:endParaRPr lang="nl-NL" sz="1800">
                <a:latin typeface="Arial" charset="0"/>
                <a:ea typeface="ヒラギノ角ゴ Pro W3" charset="0"/>
                <a:cs typeface="ヒラギノ角ゴ Pro W3" charset="0"/>
              </a:endParaRPr>
            </a:p>
          </p:txBody>
        </p:sp>
        <p:sp>
          <p:nvSpPr>
            <p:cNvPr id="42062" name="Text Box 33"/>
            <p:cNvSpPr txBox="1">
              <a:spLocks noChangeArrowheads="1"/>
            </p:cNvSpPr>
            <p:nvPr/>
          </p:nvSpPr>
          <p:spPr bwMode="auto">
            <a:xfrm>
              <a:off x="5655" y="8703"/>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135m</a:t>
              </a:r>
              <a:endParaRPr lang="nl-NL" sz="1800">
                <a:latin typeface="Arial" charset="0"/>
                <a:ea typeface="ヒラギノ角ゴ Pro W3" charset="0"/>
                <a:cs typeface="ヒラギノ角ゴ Pro W3" charset="0"/>
              </a:endParaRPr>
            </a:p>
          </p:txBody>
        </p:sp>
        <p:sp>
          <p:nvSpPr>
            <p:cNvPr id="42063" name="Text Box 32"/>
            <p:cNvSpPr txBox="1">
              <a:spLocks noChangeArrowheads="1"/>
            </p:cNvSpPr>
            <p:nvPr/>
          </p:nvSpPr>
          <p:spPr bwMode="auto">
            <a:xfrm>
              <a:off x="7375" y="9247"/>
              <a:ext cx="82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60m</a:t>
              </a:r>
              <a:endParaRPr lang="nl-NL" sz="1800">
                <a:latin typeface="Arial" charset="0"/>
                <a:ea typeface="ヒラギノ角ゴ Pro W3" charset="0"/>
                <a:cs typeface="ヒラギノ角ゴ Pro W3" charset="0"/>
              </a:endParaRPr>
            </a:p>
          </p:txBody>
        </p:sp>
        <p:sp>
          <p:nvSpPr>
            <p:cNvPr id="42064" name="Text Box 31"/>
            <p:cNvSpPr txBox="1">
              <a:spLocks noChangeArrowheads="1"/>
            </p:cNvSpPr>
            <p:nvPr/>
          </p:nvSpPr>
          <p:spPr bwMode="auto">
            <a:xfrm>
              <a:off x="7830" y="9973"/>
              <a:ext cx="81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50m</a:t>
              </a:r>
              <a:endParaRPr lang="nl-NL" sz="1800">
                <a:latin typeface="Arial" charset="0"/>
                <a:ea typeface="ヒラギノ角ゴ Pro W3" charset="0"/>
                <a:cs typeface="ヒラギノ角ゴ Pro W3" charset="0"/>
              </a:endParaRPr>
            </a:p>
          </p:txBody>
        </p:sp>
        <p:sp>
          <p:nvSpPr>
            <p:cNvPr id="42065" name="Text Box 30"/>
            <p:cNvSpPr txBox="1">
              <a:spLocks noChangeArrowheads="1"/>
            </p:cNvSpPr>
            <p:nvPr/>
          </p:nvSpPr>
          <p:spPr bwMode="auto">
            <a:xfrm>
              <a:off x="8374" y="8882"/>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40m</a:t>
              </a:r>
              <a:endParaRPr lang="nl-NL" sz="1800">
                <a:latin typeface="Arial" charset="0"/>
                <a:ea typeface="ヒラギノ角ゴ Pro W3" charset="0"/>
                <a:cs typeface="ヒラギノ角ゴ Pro W3" charset="0"/>
              </a:endParaRPr>
            </a:p>
          </p:txBody>
        </p:sp>
        <p:sp>
          <p:nvSpPr>
            <p:cNvPr id="42066" name="Text Box 29"/>
            <p:cNvSpPr txBox="1">
              <a:spLocks noChangeArrowheads="1"/>
            </p:cNvSpPr>
            <p:nvPr/>
          </p:nvSpPr>
          <p:spPr bwMode="auto">
            <a:xfrm>
              <a:off x="8647" y="9791"/>
              <a:ext cx="816"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30m</a:t>
              </a:r>
              <a:endParaRPr lang="nl-NL" sz="1800">
                <a:latin typeface="Arial" charset="0"/>
                <a:ea typeface="ヒラギノ角ゴ Pro W3" charset="0"/>
                <a:cs typeface="ヒラギノ角ゴ Pro W3" charset="0"/>
              </a:endParaRPr>
            </a:p>
          </p:txBody>
        </p:sp>
        <p:sp>
          <p:nvSpPr>
            <p:cNvPr id="42067" name="Text Box 28"/>
            <p:cNvSpPr txBox="1">
              <a:spLocks noChangeArrowheads="1"/>
            </p:cNvSpPr>
            <p:nvPr/>
          </p:nvSpPr>
          <p:spPr bwMode="auto">
            <a:xfrm>
              <a:off x="11004" y="9702"/>
              <a:ext cx="81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250m</a:t>
              </a:r>
              <a:endParaRPr lang="nl-NL" sz="1800">
                <a:latin typeface="Arial" charset="0"/>
                <a:ea typeface="ヒラギノ角ゴ Pro W3" charset="0"/>
                <a:cs typeface="ヒラギノ角ゴ Pro W3" charset="0"/>
              </a:endParaRPr>
            </a:p>
          </p:txBody>
        </p:sp>
        <p:sp>
          <p:nvSpPr>
            <p:cNvPr id="42068" name="Text Box 27"/>
            <p:cNvSpPr txBox="1">
              <a:spLocks noChangeArrowheads="1"/>
            </p:cNvSpPr>
            <p:nvPr/>
          </p:nvSpPr>
          <p:spPr bwMode="auto">
            <a:xfrm>
              <a:off x="9644" y="10152"/>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20m</a:t>
              </a:r>
              <a:endParaRPr lang="nl-NL" sz="1800">
                <a:latin typeface="Arial" charset="0"/>
                <a:ea typeface="ヒラギノ角ゴ Pro W3" charset="0"/>
                <a:cs typeface="ヒラギノ角ゴ Pro W3" charset="0"/>
              </a:endParaRPr>
            </a:p>
          </p:txBody>
        </p:sp>
        <p:sp>
          <p:nvSpPr>
            <p:cNvPr id="42069" name="Text Box 26"/>
            <p:cNvSpPr txBox="1">
              <a:spLocks noChangeArrowheads="1"/>
            </p:cNvSpPr>
            <p:nvPr/>
          </p:nvSpPr>
          <p:spPr bwMode="auto">
            <a:xfrm>
              <a:off x="12003" y="7612"/>
              <a:ext cx="82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150m</a:t>
              </a:r>
              <a:endParaRPr lang="nl-NL" sz="1800">
                <a:latin typeface="Arial" charset="0"/>
                <a:ea typeface="ヒラギノ角ゴ Pro W3" charset="0"/>
                <a:cs typeface="ヒラギノ角ゴ Pro W3" charset="0"/>
              </a:endParaRPr>
            </a:p>
          </p:txBody>
        </p:sp>
        <p:sp>
          <p:nvSpPr>
            <p:cNvPr id="42070" name="Line 25"/>
            <p:cNvSpPr>
              <a:spLocks noChangeShapeType="1"/>
            </p:cNvSpPr>
            <p:nvPr/>
          </p:nvSpPr>
          <p:spPr bwMode="auto">
            <a:xfrm rot="5400000">
              <a:off x="12774" y="9928"/>
              <a:ext cx="0" cy="634"/>
            </a:xfrm>
            <a:prstGeom prst="line">
              <a:avLst/>
            </a:prstGeom>
            <a:noFill/>
            <a:ln w="19050">
              <a:solidFill>
                <a:srgbClr val="9933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71" name="Text Box 24"/>
            <p:cNvSpPr txBox="1">
              <a:spLocks noChangeArrowheads="1"/>
            </p:cNvSpPr>
            <p:nvPr/>
          </p:nvSpPr>
          <p:spPr bwMode="auto">
            <a:xfrm>
              <a:off x="8918" y="5343"/>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60m</a:t>
              </a:r>
              <a:endParaRPr lang="nl-NL" sz="1800">
                <a:latin typeface="Arial" charset="0"/>
                <a:ea typeface="ヒラギノ角ゴ Pro W3" charset="0"/>
                <a:cs typeface="ヒラギノ角ゴ Pro W3" charset="0"/>
              </a:endParaRPr>
            </a:p>
          </p:txBody>
        </p:sp>
        <p:sp>
          <p:nvSpPr>
            <p:cNvPr id="42072" name="Line 23"/>
            <p:cNvSpPr>
              <a:spLocks noChangeShapeType="1"/>
            </p:cNvSpPr>
            <p:nvPr/>
          </p:nvSpPr>
          <p:spPr bwMode="auto">
            <a:xfrm flipV="1">
              <a:off x="10370" y="4800"/>
              <a:ext cx="0" cy="455"/>
            </a:xfrm>
            <a:prstGeom prst="line">
              <a:avLst/>
            </a:prstGeom>
            <a:noFill/>
            <a:ln w="158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73" name="Text Box 22"/>
            <p:cNvSpPr txBox="1">
              <a:spLocks noChangeArrowheads="1"/>
            </p:cNvSpPr>
            <p:nvPr/>
          </p:nvSpPr>
          <p:spPr bwMode="auto">
            <a:xfrm>
              <a:off x="10370" y="5798"/>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algn="r" eaLnBrk="1" hangingPunct="1"/>
              <a:r>
                <a:rPr lang="nl-NL" sz="700">
                  <a:solidFill>
                    <a:srgbClr val="000000"/>
                  </a:solidFill>
                  <a:latin typeface="Arial" charset="0"/>
                  <a:ea typeface="ヒラギノ角ゴ Pro W3" charset="0"/>
                  <a:cs typeface="ヒラギノ角ゴ Pro W3" charset="0"/>
                </a:rPr>
                <a:t>80m</a:t>
              </a:r>
              <a:endParaRPr lang="nl-NL" sz="1800">
                <a:latin typeface="Arial" charset="0"/>
                <a:ea typeface="ヒラギノ角ゴ Pro W3" charset="0"/>
                <a:cs typeface="ヒラギノ角ゴ Pro W3" charset="0"/>
              </a:endParaRPr>
            </a:p>
          </p:txBody>
        </p:sp>
        <p:sp>
          <p:nvSpPr>
            <p:cNvPr id="42074" name="Text Box 21"/>
            <p:cNvSpPr txBox="1">
              <a:spLocks noChangeArrowheads="1"/>
            </p:cNvSpPr>
            <p:nvPr/>
          </p:nvSpPr>
          <p:spPr bwMode="auto">
            <a:xfrm>
              <a:off x="10549" y="6613"/>
              <a:ext cx="82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50m</a:t>
              </a:r>
              <a:endParaRPr lang="nl-NL" sz="1800">
                <a:latin typeface="Arial" charset="0"/>
                <a:ea typeface="ヒラギノ角ゴ Pro W3" charset="0"/>
                <a:cs typeface="ヒラギノ角ゴ Pro W3" charset="0"/>
              </a:endParaRPr>
            </a:p>
          </p:txBody>
        </p:sp>
        <p:sp>
          <p:nvSpPr>
            <p:cNvPr id="42075" name="Text Box 20"/>
            <p:cNvSpPr txBox="1">
              <a:spLocks noChangeArrowheads="1"/>
            </p:cNvSpPr>
            <p:nvPr/>
          </p:nvSpPr>
          <p:spPr bwMode="auto">
            <a:xfrm>
              <a:off x="11640" y="5438"/>
              <a:ext cx="81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50m</a:t>
              </a:r>
              <a:endParaRPr lang="nl-NL" sz="1800">
                <a:latin typeface="Arial" charset="0"/>
                <a:ea typeface="ヒラギノ角ゴ Pro W3" charset="0"/>
                <a:cs typeface="ヒラギノ角ゴ Pro W3" charset="0"/>
              </a:endParaRPr>
            </a:p>
          </p:txBody>
        </p:sp>
        <p:sp>
          <p:nvSpPr>
            <p:cNvPr id="42076" name="Text Box 19"/>
            <p:cNvSpPr txBox="1">
              <a:spLocks noChangeArrowheads="1"/>
            </p:cNvSpPr>
            <p:nvPr/>
          </p:nvSpPr>
          <p:spPr bwMode="auto">
            <a:xfrm>
              <a:off x="11732" y="6526"/>
              <a:ext cx="82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100m</a:t>
              </a:r>
              <a:endParaRPr lang="nl-NL" sz="1800">
                <a:latin typeface="Arial" charset="0"/>
                <a:ea typeface="ヒラギノ角ゴ Pro W3" charset="0"/>
                <a:cs typeface="ヒラギノ角ゴ Pro W3" charset="0"/>
              </a:endParaRPr>
            </a:p>
          </p:txBody>
        </p:sp>
        <p:sp>
          <p:nvSpPr>
            <p:cNvPr id="42077" name="Text Box 18"/>
            <p:cNvSpPr txBox="1">
              <a:spLocks noChangeArrowheads="1"/>
            </p:cNvSpPr>
            <p:nvPr/>
          </p:nvSpPr>
          <p:spPr bwMode="auto">
            <a:xfrm>
              <a:off x="8374" y="3713"/>
              <a:ext cx="117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10kVA, cosø=1.0</a:t>
              </a:r>
              <a:endParaRPr lang="nl-NL" sz="1800">
                <a:latin typeface="Arial" charset="0"/>
                <a:ea typeface="ヒラギノ角ゴ Pro W3" charset="0"/>
                <a:cs typeface="ヒラギノ角ゴ Pro W3" charset="0"/>
              </a:endParaRPr>
            </a:p>
          </p:txBody>
        </p:sp>
        <p:sp>
          <p:nvSpPr>
            <p:cNvPr id="42078" name="Text Box 17"/>
            <p:cNvSpPr txBox="1">
              <a:spLocks noChangeArrowheads="1"/>
            </p:cNvSpPr>
            <p:nvPr/>
          </p:nvSpPr>
          <p:spPr bwMode="auto">
            <a:xfrm>
              <a:off x="5834" y="6526"/>
              <a:ext cx="135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80 kVA, cosø=1.0</a:t>
              </a:r>
              <a:endParaRPr lang="nl-NL" sz="1800">
                <a:latin typeface="Arial" charset="0"/>
                <a:ea typeface="ヒラギノ角ゴ Pro W3" charset="0"/>
                <a:cs typeface="ヒラギノ角ゴ Pro W3" charset="0"/>
              </a:endParaRPr>
            </a:p>
          </p:txBody>
        </p:sp>
        <p:sp>
          <p:nvSpPr>
            <p:cNvPr id="42079" name="Text Box 16"/>
            <p:cNvSpPr txBox="1">
              <a:spLocks noChangeArrowheads="1"/>
            </p:cNvSpPr>
            <p:nvPr/>
          </p:nvSpPr>
          <p:spPr bwMode="auto">
            <a:xfrm>
              <a:off x="9371" y="11332"/>
              <a:ext cx="1362"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25kVA, cosø=1.0</a:t>
              </a:r>
              <a:endParaRPr lang="nl-NL" sz="1800">
                <a:latin typeface="Arial" charset="0"/>
                <a:ea typeface="ヒラギノ角ゴ Pro W3" charset="0"/>
                <a:cs typeface="ヒラギノ角ゴ Pro W3" charset="0"/>
              </a:endParaRPr>
            </a:p>
          </p:txBody>
        </p:sp>
        <p:sp>
          <p:nvSpPr>
            <p:cNvPr id="42080" name="Text Box 15"/>
            <p:cNvSpPr txBox="1">
              <a:spLocks noChangeArrowheads="1"/>
            </p:cNvSpPr>
            <p:nvPr/>
          </p:nvSpPr>
          <p:spPr bwMode="auto">
            <a:xfrm rot="-5400000">
              <a:off x="12680" y="7122"/>
              <a:ext cx="713"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a:solidFill>
                    <a:srgbClr val="000000"/>
                  </a:solidFill>
                  <a:latin typeface="Arial" charset="0"/>
                  <a:ea typeface="ヒラギノ角ゴ Pro W3" charset="0"/>
                  <a:cs typeface="ヒラギノ角ゴ Pro W3" charset="0"/>
                </a:rPr>
                <a:t>90kVA, cosø=1.0</a:t>
              </a:r>
              <a:endParaRPr lang="nl-NL" sz="1800">
                <a:latin typeface="Arial" charset="0"/>
                <a:ea typeface="ヒラギノ角ゴ Pro W3" charset="0"/>
                <a:cs typeface="ヒラギノ角ゴ Pro W3" charset="0"/>
              </a:endParaRPr>
            </a:p>
          </p:txBody>
        </p:sp>
        <p:sp>
          <p:nvSpPr>
            <p:cNvPr id="42081" name="Text Box 14"/>
            <p:cNvSpPr txBox="1">
              <a:spLocks noChangeArrowheads="1"/>
            </p:cNvSpPr>
            <p:nvPr/>
          </p:nvSpPr>
          <p:spPr bwMode="auto">
            <a:xfrm>
              <a:off x="6560" y="9607"/>
              <a:ext cx="136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3 houses</a:t>
              </a:r>
              <a:endParaRPr lang="nl-NL" sz="1800">
                <a:latin typeface="Arial" charset="0"/>
                <a:ea typeface="ヒラギノ角ゴ Pro W3" charset="0"/>
                <a:cs typeface="ヒラギノ角ゴ Pro W3" charset="0"/>
              </a:endParaRPr>
            </a:p>
          </p:txBody>
        </p:sp>
        <p:sp>
          <p:nvSpPr>
            <p:cNvPr id="42082" name="Text Box 13"/>
            <p:cNvSpPr txBox="1">
              <a:spLocks noChangeArrowheads="1"/>
            </p:cNvSpPr>
            <p:nvPr/>
          </p:nvSpPr>
          <p:spPr bwMode="auto">
            <a:xfrm>
              <a:off x="9281" y="8156"/>
              <a:ext cx="1362"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2 houses</a:t>
              </a:r>
              <a:endParaRPr lang="nl-NL" sz="1800">
                <a:latin typeface="Arial" charset="0"/>
                <a:ea typeface="ヒラギノ角ゴ Pro W3" charset="0"/>
                <a:cs typeface="ヒラギノ角ゴ Pro W3" charset="0"/>
              </a:endParaRPr>
            </a:p>
          </p:txBody>
        </p:sp>
        <p:sp>
          <p:nvSpPr>
            <p:cNvPr id="42083" name="Text Box 12"/>
            <p:cNvSpPr txBox="1">
              <a:spLocks noChangeArrowheads="1"/>
            </p:cNvSpPr>
            <p:nvPr/>
          </p:nvSpPr>
          <p:spPr bwMode="auto">
            <a:xfrm>
              <a:off x="7104" y="10972"/>
              <a:ext cx="1362"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2 houses</a:t>
              </a:r>
              <a:endParaRPr lang="nl-NL" sz="1800">
                <a:latin typeface="Arial" charset="0"/>
                <a:ea typeface="ヒラギノ角ゴ Pro W3" charset="0"/>
                <a:cs typeface="ヒラギノ角ゴ Pro W3" charset="0"/>
              </a:endParaRPr>
            </a:p>
          </p:txBody>
        </p:sp>
        <p:sp>
          <p:nvSpPr>
            <p:cNvPr id="42084" name="Text Box 11"/>
            <p:cNvSpPr txBox="1">
              <a:spLocks noChangeArrowheads="1"/>
            </p:cNvSpPr>
            <p:nvPr/>
          </p:nvSpPr>
          <p:spPr bwMode="auto">
            <a:xfrm>
              <a:off x="8647" y="7706"/>
              <a:ext cx="136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5 houses</a:t>
              </a:r>
              <a:endParaRPr lang="nl-NL" sz="1800">
                <a:latin typeface="Arial" charset="0"/>
                <a:ea typeface="ヒラギノ角ゴ Pro W3" charset="0"/>
                <a:cs typeface="ヒラギノ角ゴ Pro W3" charset="0"/>
              </a:endParaRPr>
            </a:p>
          </p:txBody>
        </p:sp>
        <p:sp>
          <p:nvSpPr>
            <p:cNvPr id="42085" name="Text Box 10"/>
            <p:cNvSpPr txBox="1">
              <a:spLocks noChangeArrowheads="1"/>
            </p:cNvSpPr>
            <p:nvPr/>
          </p:nvSpPr>
          <p:spPr bwMode="auto">
            <a:xfrm>
              <a:off x="9828" y="4439"/>
              <a:ext cx="136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5 houses</a:t>
              </a:r>
              <a:endParaRPr lang="nl-NL" sz="1800">
                <a:latin typeface="Arial" charset="0"/>
                <a:ea typeface="ヒラギノ角ゴ Pro W3" charset="0"/>
                <a:cs typeface="ヒラギノ角ゴ Pro W3" charset="0"/>
              </a:endParaRPr>
            </a:p>
          </p:txBody>
        </p:sp>
        <p:sp>
          <p:nvSpPr>
            <p:cNvPr id="42086" name="Text Box 9"/>
            <p:cNvSpPr txBox="1">
              <a:spLocks noChangeArrowheads="1"/>
            </p:cNvSpPr>
            <p:nvPr/>
          </p:nvSpPr>
          <p:spPr bwMode="auto">
            <a:xfrm>
              <a:off x="11277" y="4439"/>
              <a:ext cx="1362"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3 houses</a:t>
              </a:r>
              <a:endParaRPr lang="nl-NL" sz="1800">
                <a:latin typeface="Arial" charset="0"/>
                <a:ea typeface="ヒラギノ角ゴ Pro W3" charset="0"/>
                <a:cs typeface="ヒラギノ角ゴ Pro W3" charset="0"/>
              </a:endParaRPr>
            </a:p>
          </p:txBody>
        </p:sp>
        <p:sp>
          <p:nvSpPr>
            <p:cNvPr id="42087" name="Text Box 8"/>
            <p:cNvSpPr txBox="1">
              <a:spLocks noChangeArrowheads="1"/>
            </p:cNvSpPr>
            <p:nvPr/>
          </p:nvSpPr>
          <p:spPr bwMode="auto">
            <a:xfrm>
              <a:off x="9463" y="7157"/>
              <a:ext cx="136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2 houses</a:t>
              </a:r>
              <a:endParaRPr lang="nl-NL" sz="1800">
                <a:latin typeface="Arial" charset="0"/>
                <a:ea typeface="ヒラギノ角ゴ Pro W3" charset="0"/>
                <a:cs typeface="ヒラギノ角ゴ Pro W3" charset="0"/>
              </a:endParaRPr>
            </a:p>
          </p:txBody>
        </p:sp>
        <p:sp>
          <p:nvSpPr>
            <p:cNvPr id="42088" name="Text Box 7"/>
            <p:cNvSpPr txBox="1">
              <a:spLocks noChangeArrowheads="1"/>
            </p:cNvSpPr>
            <p:nvPr/>
          </p:nvSpPr>
          <p:spPr bwMode="auto">
            <a:xfrm>
              <a:off x="12138" y="5708"/>
              <a:ext cx="136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4 houses</a:t>
              </a:r>
              <a:endParaRPr lang="nl-NL" sz="1800">
                <a:latin typeface="Arial" charset="0"/>
                <a:ea typeface="ヒラギノ角ゴ Pro W3" charset="0"/>
                <a:cs typeface="ヒラギノ角ゴ Pro W3" charset="0"/>
              </a:endParaRPr>
            </a:p>
          </p:txBody>
        </p:sp>
        <p:sp>
          <p:nvSpPr>
            <p:cNvPr id="42089" name="Text Box 6"/>
            <p:cNvSpPr txBox="1">
              <a:spLocks noChangeArrowheads="1"/>
            </p:cNvSpPr>
            <p:nvPr/>
          </p:nvSpPr>
          <p:spPr bwMode="auto">
            <a:xfrm>
              <a:off x="11364" y="7068"/>
              <a:ext cx="136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700" i="1">
                  <a:solidFill>
                    <a:srgbClr val="000000"/>
                  </a:solidFill>
                  <a:latin typeface="Arial" charset="0"/>
                  <a:ea typeface="ヒラギノ角ゴ Pro W3" charset="0"/>
                  <a:cs typeface="ヒラギノ角ゴ Pro W3" charset="0"/>
                </a:rPr>
                <a:t>5 houses</a:t>
              </a:r>
              <a:endParaRPr lang="nl-NL" sz="1800">
                <a:latin typeface="Arial" charset="0"/>
                <a:ea typeface="ヒラギノ角ゴ Pro W3" charset="0"/>
                <a:cs typeface="ヒラギノ角ゴ Pro W3" charset="0"/>
              </a:endParaRPr>
            </a:p>
          </p:txBody>
        </p:sp>
        <p:sp>
          <p:nvSpPr>
            <p:cNvPr id="42090" name="Text Box 5"/>
            <p:cNvSpPr txBox="1">
              <a:spLocks noChangeArrowheads="1"/>
            </p:cNvSpPr>
            <p:nvPr/>
          </p:nvSpPr>
          <p:spPr bwMode="auto">
            <a:xfrm>
              <a:off x="2660" y="5254"/>
              <a:ext cx="3534"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522" tIns="29261" rIns="58522" bIns="29261">
              <a:spAutoFit/>
            </a:bodyPr>
            <a:lstStyle>
              <a:lvl1pPr eaLnBrk="0" hangingPunct="0">
                <a:defRPr sz="2400">
                  <a:solidFill>
                    <a:schemeClr val="tx1"/>
                  </a:solidFill>
                  <a:latin typeface="Arial Black" charset="0"/>
                  <a:ea typeface="ＭＳ Ｐゴシック" charset="0"/>
                  <a:cs typeface="ＭＳ Ｐゴシック" charset="0"/>
                </a:defRPr>
              </a:lvl1pPr>
              <a:lvl2pPr marL="742950" indent="-285750" eaLnBrk="0" hangingPunct="0">
                <a:defRPr sz="2400">
                  <a:solidFill>
                    <a:schemeClr val="tx1"/>
                  </a:solidFill>
                  <a:latin typeface="Arial Black" charset="0"/>
                  <a:ea typeface="ＭＳ Ｐゴシック" charset="0"/>
                </a:defRPr>
              </a:lvl2pPr>
              <a:lvl3pPr marL="1143000" indent="-228600" eaLnBrk="0" hangingPunct="0">
                <a:defRPr sz="2400">
                  <a:solidFill>
                    <a:schemeClr val="tx1"/>
                  </a:solidFill>
                  <a:latin typeface="Arial Black" charset="0"/>
                  <a:ea typeface="ＭＳ Ｐゴシック" charset="0"/>
                </a:defRPr>
              </a:lvl3pPr>
              <a:lvl4pPr marL="1600200" indent="-228600" eaLnBrk="0" hangingPunct="0">
                <a:defRPr sz="2400">
                  <a:solidFill>
                    <a:schemeClr val="tx1"/>
                  </a:solidFill>
                  <a:latin typeface="Arial Black" charset="0"/>
                  <a:ea typeface="ＭＳ Ｐゴシック" charset="0"/>
                </a:defRPr>
              </a:lvl4pPr>
              <a:lvl5pPr marL="2057400" indent="-228600" eaLnBrk="0" hangingPunct="0">
                <a:defRPr sz="2400">
                  <a:solidFill>
                    <a:schemeClr val="tx1"/>
                  </a:solidFill>
                  <a:latin typeface="Arial Black" charset="0"/>
                  <a:ea typeface="ＭＳ Ｐゴシック" charset="0"/>
                </a:defRPr>
              </a:lvl5pPr>
              <a:lvl6pPr marL="2514600" indent="-228600" eaLnBrk="0" fontAlgn="base" hangingPunct="0">
                <a:spcBef>
                  <a:spcPct val="0"/>
                </a:spcBef>
                <a:spcAft>
                  <a:spcPct val="0"/>
                </a:spcAft>
                <a:defRPr sz="2400">
                  <a:solidFill>
                    <a:schemeClr val="tx1"/>
                  </a:solidFill>
                  <a:latin typeface="Arial Black" charset="0"/>
                  <a:ea typeface="ＭＳ Ｐゴシック" charset="0"/>
                </a:defRPr>
              </a:lvl6pPr>
              <a:lvl7pPr marL="2971800" indent="-228600" eaLnBrk="0" fontAlgn="base" hangingPunct="0">
                <a:spcBef>
                  <a:spcPct val="0"/>
                </a:spcBef>
                <a:spcAft>
                  <a:spcPct val="0"/>
                </a:spcAft>
                <a:defRPr sz="2400">
                  <a:solidFill>
                    <a:schemeClr val="tx1"/>
                  </a:solidFill>
                  <a:latin typeface="Arial Black" charset="0"/>
                  <a:ea typeface="ＭＳ Ｐゴシック" charset="0"/>
                </a:defRPr>
              </a:lvl7pPr>
              <a:lvl8pPr marL="3429000" indent="-228600" eaLnBrk="0" fontAlgn="base" hangingPunct="0">
                <a:spcBef>
                  <a:spcPct val="0"/>
                </a:spcBef>
                <a:spcAft>
                  <a:spcPct val="0"/>
                </a:spcAft>
                <a:defRPr sz="2400">
                  <a:solidFill>
                    <a:schemeClr val="tx1"/>
                  </a:solidFill>
                  <a:latin typeface="Arial Black" charset="0"/>
                  <a:ea typeface="ＭＳ Ｐゴシック" charset="0"/>
                </a:defRPr>
              </a:lvl8pPr>
              <a:lvl9pPr marL="3886200" indent="-228600" eaLnBrk="0" fontAlgn="base" hangingPunct="0">
                <a:spcBef>
                  <a:spcPct val="0"/>
                </a:spcBef>
                <a:spcAft>
                  <a:spcPct val="0"/>
                </a:spcAft>
                <a:defRPr sz="2400">
                  <a:solidFill>
                    <a:schemeClr val="tx1"/>
                  </a:solidFill>
                  <a:latin typeface="Arial Black" charset="0"/>
                  <a:ea typeface="ＭＳ Ｐゴシック" charset="0"/>
                </a:defRPr>
              </a:lvl9pPr>
            </a:lstStyle>
            <a:p>
              <a:pPr eaLnBrk="1" hangingPunct="1"/>
              <a:r>
                <a:rPr lang="nl-NL" sz="900" b="1">
                  <a:solidFill>
                    <a:srgbClr val="993300"/>
                  </a:solidFill>
                  <a:latin typeface="Arial" charset="0"/>
                  <a:ea typeface="ヒラギノ角ゴ Pro W3" charset="0"/>
                  <a:cs typeface="ヒラギノ角ゴ Pro W3" charset="0"/>
                </a:rPr>
                <a:t>Each house demands 3500kWh / year</a:t>
              </a:r>
              <a:endParaRPr lang="nl-NL" sz="1800">
                <a:latin typeface="Arial" charset="0"/>
                <a:ea typeface="ヒラギノ角ゴ Pro W3" charset="0"/>
                <a:cs typeface="ヒラギノ角ゴ Pro W3" charset="0"/>
              </a:endParaRPr>
            </a:p>
          </p:txBody>
        </p:sp>
        <p:sp>
          <p:nvSpPr>
            <p:cNvPr id="42091" name="AutoShape 4"/>
            <p:cNvSpPr>
              <a:spLocks noChangeArrowheads="1"/>
            </p:cNvSpPr>
            <p:nvPr/>
          </p:nvSpPr>
          <p:spPr bwMode="auto">
            <a:xfrm>
              <a:off x="2569" y="5072"/>
              <a:ext cx="2905" cy="999"/>
            </a:xfrm>
            <a:prstGeom prst="wedgeEllipseCallout">
              <a:avLst>
                <a:gd name="adj1" fmla="val 97657"/>
                <a:gd name="adj2" fmla="val 48194"/>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58522" tIns="29261" rIns="58522" bIns="29261"/>
            <a:lstStyle/>
            <a:p>
              <a:endParaRPr lang="en-US" sz="1800">
                <a:latin typeface="Arial" charset="0"/>
              </a:endParaRPr>
            </a:p>
          </p:txBody>
        </p:sp>
      </p:grpSp>
      <p:sp>
        <p:nvSpPr>
          <p:cNvPr id="239725" name="Rectangle 109"/>
          <p:cNvSpPr>
            <a:spLocks noChangeArrowheads="1"/>
          </p:cNvSpPr>
          <p:nvPr/>
        </p:nvSpPr>
        <p:spPr bwMode="auto">
          <a:xfrm>
            <a:off x="4794250" y="36449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endParaRPr lang="en-US" sz="1800">
              <a:latin typeface="Arial" charset="0"/>
              <a:cs typeface="Arial" charset="0"/>
            </a:endParaRPr>
          </a:p>
        </p:txBody>
      </p:sp>
    </p:spTree>
    <p:extLst>
      <p:ext uri="{BB962C8B-B14F-4D97-AF65-F5344CB8AC3E}">
        <p14:creationId xmlns:p14="http://schemas.microsoft.com/office/powerpoint/2010/main" val="2399082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6593" y="250878"/>
            <a:ext cx="7979933" cy="2800767"/>
          </a:xfrm>
          <a:prstGeom prst="rect">
            <a:avLst/>
          </a:prstGeom>
          <a:noFill/>
        </p:spPr>
        <p:txBody>
          <a:bodyPr wrap="square" rtlCol="0">
            <a:spAutoFit/>
          </a:bodyPr>
          <a:lstStyle/>
          <a:p>
            <a:r>
              <a:rPr lang="en-US" sz="2400" dirty="0" smtClean="0"/>
              <a:t>                                           </a:t>
            </a:r>
            <a:r>
              <a:rPr lang="en-US" sz="2800" dirty="0" smtClean="0">
                <a:solidFill>
                  <a:srgbClr val="FF0000"/>
                </a:solidFill>
              </a:rPr>
              <a:t> Suppliers</a:t>
            </a:r>
          </a:p>
          <a:p>
            <a:r>
              <a:rPr lang="en-US" sz="2800" dirty="0" smtClean="0">
                <a:solidFill>
                  <a:srgbClr val="FF0000"/>
                </a:solidFill>
              </a:rPr>
              <a:t>    </a:t>
            </a:r>
            <a:r>
              <a:rPr lang="en-US" sz="2800" dirty="0" smtClean="0"/>
              <a:t>The nature of energy supply is changing rapidly</a:t>
            </a:r>
          </a:p>
          <a:p>
            <a:endParaRPr lang="en-US" sz="2400" dirty="0"/>
          </a:p>
          <a:p>
            <a:r>
              <a:rPr lang="en-US" sz="2400" dirty="0" smtClean="0">
                <a:solidFill>
                  <a:srgbClr val="0000FF"/>
                </a:solidFill>
              </a:rPr>
              <a:t>                             </a:t>
            </a:r>
          </a:p>
          <a:p>
            <a:endParaRPr lang="en-US" sz="2400" dirty="0">
              <a:solidFill>
                <a:srgbClr val="0000FF"/>
              </a:solidFill>
            </a:endParaRPr>
          </a:p>
          <a:p>
            <a:endParaRPr lang="en-US" sz="2400" dirty="0">
              <a:solidFill>
                <a:srgbClr val="FF0000"/>
              </a:solidFill>
            </a:endParaRPr>
          </a:p>
          <a:p>
            <a:endParaRPr lang="en-US" sz="2400" dirty="0" smtClean="0">
              <a:solidFill>
                <a:srgbClr val="FF0000"/>
              </a:solidFill>
            </a:endParaRPr>
          </a:p>
        </p:txBody>
      </p:sp>
      <p:pic>
        <p:nvPicPr>
          <p:cNvPr id="4" name="Picture 3" descr="energy-sources-percen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3444" y="1279954"/>
            <a:ext cx="7081548" cy="5578046"/>
          </a:xfrm>
          <a:prstGeom prst="rect">
            <a:avLst/>
          </a:prstGeom>
        </p:spPr>
      </p:pic>
    </p:spTree>
    <p:extLst>
      <p:ext uri="{BB962C8B-B14F-4D97-AF65-F5344CB8AC3E}">
        <p14:creationId xmlns:p14="http://schemas.microsoft.com/office/powerpoint/2010/main" val="1870863473"/>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6593" y="391998"/>
            <a:ext cx="7979933" cy="2000548"/>
          </a:xfrm>
          <a:prstGeom prst="rect">
            <a:avLst/>
          </a:prstGeom>
          <a:noFill/>
        </p:spPr>
        <p:txBody>
          <a:bodyPr wrap="square" rtlCol="0">
            <a:spAutoFit/>
          </a:bodyPr>
          <a:lstStyle/>
          <a:p>
            <a:r>
              <a:rPr lang="en-US" sz="2400" dirty="0" smtClean="0"/>
              <a:t>                                       </a:t>
            </a:r>
            <a:r>
              <a:rPr lang="en-US" sz="2800" dirty="0" smtClean="0">
                <a:solidFill>
                  <a:srgbClr val="FF0000"/>
                </a:solidFill>
              </a:rPr>
              <a:t>Situation in 2010</a:t>
            </a:r>
            <a:endParaRPr lang="en-US" sz="2400" dirty="0">
              <a:solidFill>
                <a:srgbClr val="0000FF"/>
              </a:solidFill>
            </a:endParaRPr>
          </a:p>
          <a:p>
            <a:r>
              <a:rPr lang="en-US" sz="2400" dirty="0" smtClean="0">
                <a:solidFill>
                  <a:srgbClr val="0000FF"/>
                </a:solidFill>
              </a:rPr>
              <a:t>                             </a:t>
            </a:r>
          </a:p>
          <a:p>
            <a:endParaRPr lang="en-US" sz="2400" dirty="0">
              <a:solidFill>
                <a:srgbClr val="0000FF"/>
              </a:solidFill>
            </a:endParaRPr>
          </a:p>
          <a:p>
            <a:endParaRPr lang="en-US" sz="2400" dirty="0">
              <a:solidFill>
                <a:srgbClr val="FF0000"/>
              </a:solidFill>
            </a:endParaRPr>
          </a:p>
          <a:p>
            <a:endParaRPr lang="en-US" sz="2400" dirty="0" smtClean="0">
              <a:solidFill>
                <a:srgbClr val="FF0000"/>
              </a:solidFill>
            </a:endParaRPr>
          </a:p>
        </p:txBody>
      </p:sp>
      <p:pic>
        <p:nvPicPr>
          <p:cNvPr id="6" name="Picture 5" descr="energy-sources-pie-chart-500x31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251" y="1322359"/>
            <a:ext cx="8386111" cy="5216161"/>
          </a:xfrm>
          <a:prstGeom prst="rect">
            <a:avLst/>
          </a:prstGeom>
        </p:spPr>
      </p:pic>
    </p:spTree>
    <p:extLst>
      <p:ext uri="{BB962C8B-B14F-4D97-AF65-F5344CB8AC3E}">
        <p14:creationId xmlns:p14="http://schemas.microsoft.com/office/powerpoint/2010/main" val="37481707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rst coal-free day in Britain since Industrial Revolution - BBC News.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9029" y="-270886"/>
            <a:ext cx="5299036" cy="7498805"/>
          </a:xfrm>
          <a:prstGeom prst="rect">
            <a:avLst/>
          </a:prstGeom>
        </p:spPr>
      </p:pic>
      <p:sp>
        <p:nvSpPr>
          <p:cNvPr id="3" name="TextBox 2"/>
          <p:cNvSpPr txBox="1"/>
          <p:nvPr/>
        </p:nvSpPr>
        <p:spPr>
          <a:xfrm>
            <a:off x="297880" y="736956"/>
            <a:ext cx="2430048" cy="954107"/>
          </a:xfrm>
          <a:prstGeom prst="rect">
            <a:avLst/>
          </a:prstGeom>
          <a:noFill/>
        </p:spPr>
        <p:txBody>
          <a:bodyPr wrap="square" rtlCol="0">
            <a:spAutoFit/>
          </a:bodyPr>
          <a:lstStyle/>
          <a:p>
            <a:r>
              <a:rPr lang="en-US" sz="2800" dirty="0" smtClean="0">
                <a:solidFill>
                  <a:srgbClr val="FF0000"/>
                </a:solidFill>
              </a:rPr>
              <a:t>Situation on 21</a:t>
            </a:r>
            <a:r>
              <a:rPr lang="en-US" sz="2800" baseline="30000" dirty="0" smtClean="0">
                <a:solidFill>
                  <a:srgbClr val="FF0000"/>
                </a:solidFill>
              </a:rPr>
              <a:t>st</a:t>
            </a:r>
            <a:r>
              <a:rPr lang="en-US" sz="2800" dirty="0" smtClean="0">
                <a:solidFill>
                  <a:srgbClr val="FF0000"/>
                </a:solidFill>
              </a:rPr>
              <a:t> April 2017</a:t>
            </a:r>
            <a:endParaRPr lang="en-US" sz="2800" dirty="0">
              <a:solidFill>
                <a:srgbClr val="FF0000"/>
              </a:solidFill>
            </a:endParaRPr>
          </a:p>
        </p:txBody>
      </p:sp>
    </p:spTree>
    <p:extLst>
      <p:ext uri="{BB962C8B-B14F-4D97-AF65-F5344CB8AC3E}">
        <p14:creationId xmlns:p14="http://schemas.microsoft.com/office/powerpoint/2010/main" val="1276243845"/>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6593" y="391998"/>
            <a:ext cx="7979933" cy="7663635"/>
          </a:xfrm>
          <a:prstGeom prst="rect">
            <a:avLst/>
          </a:prstGeom>
          <a:noFill/>
        </p:spPr>
        <p:txBody>
          <a:bodyPr wrap="square" rtlCol="0">
            <a:spAutoFit/>
          </a:bodyPr>
          <a:lstStyle/>
          <a:p>
            <a:r>
              <a:rPr lang="en-US" sz="2400" dirty="0" smtClean="0"/>
              <a:t>                                  </a:t>
            </a:r>
            <a:r>
              <a:rPr lang="en-US" sz="2800" dirty="0" smtClean="0"/>
              <a:t> </a:t>
            </a:r>
            <a:endParaRPr lang="en-US" sz="2400" dirty="0">
              <a:solidFill>
                <a:srgbClr val="0000FF"/>
              </a:solidFill>
            </a:endParaRPr>
          </a:p>
          <a:p>
            <a:r>
              <a:rPr lang="en-US" sz="2400" dirty="0" smtClean="0">
                <a:solidFill>
                  <a:srgbClr val="0000FF"/>
                </a:solidFill>
              </a:rPr>
              <a:t>         </a:t>
            </a:r>
            <a:r>
              <a:rPr lang="en-US" sz="2800" dirty="0" smtClean="0">
                <a:solidFill>
                  <a:srgbClr val="0000FF"/>
                </a:solidFill>
              </a:rPr>
              <a:t> Fossil Fuels : 160 large power plants </a:t>
            </a:r>
          </a:p>
          <a:p>
            <a:endParaRPr lang="en-US" sz="2800" dirty="0">
              <a:solidFill>
                <a:srgbClr val="FF0000"/>
              </a:solidFill>
            </a:endParaRPr>
          </a:p>
          <a:p>
            <a:endParaRPr lang="en-US" sz="2400" dirty="0" smtClean="0">
              <a:solidFill>
                <a:srgbClr val="FF0000"/>
              </a:solidFill>
            </a:endParaRPr>
          </a:p>
          <a:p>
            <a:r>
              <a:rPr lang="en-US" sz="2400" dirty="0" smtClean="0">
                <a:solidFill>
                  <a:srgbClr val="FF0000"/>
                </a:solidFill>
              </a:rPr>
              <a:t>Coal                            Oil                             Gas                      Peat               </a:t>
            </a: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r>
              <a:rPr lang="en-US" sz="2400" dirty="0" smtClean="0">
                <a:solidFill>
                  <a:srgbClr val="FF0000"/>
                </a:solidFill>
              </a:rPr>
              <a:t>                                              1-2 GW</a:t>
            </a:r>
            <a:endParaRPr lang="en-US" sz="2400" dirty="0">
              <a:solidFill>
                <a:srgbClr val="FF0000"/>
              </a:solidFill>
            </a:endParaRPr>
          </a:p>
          <a:p>
            <a:endParaRPr lang="en-US" sz="2400" dirty="0" smtClean="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p:txBody>
      </p:sp>
      <p:pic>
        <p:nvPicPr>
          <p:cNvPr id="4" name="Picture 3" descr="powerstaionPA_468x319.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941" y="3146788"/>
            <a:ext cx="3296683" cy="2247098"/>
          </a:xfrm>
          <a:prstGeom prst="rect">
            <a:avLst/>
          </a:prstGeom>
        </p:spPr>
      </p:pic>
      <p:pic>
        <p:nvPicPr>
          <p:cNvPr id="5" name="Picture 4" descr="showimage.ashx.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7730" y="3198695"/>
            <a:ext cx="3748796" cy="2139557"/>
          </a:xfrm>
          <a:prstGeom prst="rect">
            <a:avLst/>
          </a:prstGeom>
        </p:spPr>
      </p:pic>
    </p:spTree>
    <p:extLst>
      <p:ext uri="{BB962C8B-B14F-4D97-AF65-F5344CB8AC3E}">
        <p14:creationId xmlns:p14="http://schemas.microsoft.com/office/powerpoint/2010/main" val="231661995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4942" y="407677"/>
            <a:ext cx="8654106" cy="523220"/>
          </a:xfrm>
          <a:prstGeom prst="rect">
            <a:avLst/>
          </a:prstGeom>
          <a:noFill/>
        </p:spPr>
        <p:txBody>
          <a:bodyPr wrap="square" rtlCol="0">
            <a:spAutoFit/>
          </a:bodyPr>
          <a:lstStyle/>
          <a:p>
            <a:r>
              <a:rPr lang="en-US" sz="2400" dirty="0" smtClean="0">
                <a:solidFill>
                  <a:srgbClr val="0000FF"/>
                </a:solidFill>
              </a:rPr>
              <a:t>                                    </a:t>
            </a:r>
            <a:r>
              <a:rPr lang="en-US" sz="2800" dirty="0" smtClean="0">
                <a:solidFill>
                  <a:srgbClr val="0000FF"/>
                </a:solidFill>
              </a:rPr>
              <a:t>Nuclear   16% of total,  15 reactors</a:t>
            </a:r>
            <a:endParaRPr lang="en-US" sz="2800" dirty="0">
              <a:solidFill>
                <a:srgbClr val="0000FF"/>
              </a:solidFill>
            </a:endParaRPr>
          </a:p>
        </p:txBody>
      </p:sp>
      <p:pic>
        <p:nvPicPr>
          <p:cNvPr id="3" name="Picture 2" descr="7f0ca3445d71a4a7c7fcfe53883786e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5284" y="3998378"/>
            <a:ext cx="4216104" cy="2370388"/>
          </a:xfrm>
          <a:prstGeom prst="rect">
            <a:avLst/>
          </a:prstGeom>
        </p:spPr>
      </p:pic>
      <p:pic>
        <p:nvPicPr>
          <p:cNvPr id="4" name="Picture 3" descr="sizewell-nuclear-power-stati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0124" y="1130856"/>
            <a:ext cx="4101518" cy="2566756"/>
          </a:xfrm>
          <a:prstGeom prst="rect">
            <a:avLst/>
          </a:prstGeom>
        </p:spPr>
      </p:pic>
      <p:sp>
        <p:nvSpPr>
          <p:cNvPr id="5" name="TextBox 4"/>
          <p:cNvSpPr txBox="1"/>
          <p:nvPr/>
        </p:nvSpPr>
        <p:spPr>
          <a:xfrm>
            <a:off x="548718" y="2179507"/>
            <a:ext cx="8826528" cy="461665"/>
          </a:xfrm>
          <a:prstGeom prst="rect">
            <a:avLst/>
          </a:prstGeom>
          <a:noFill/>
        </p:spPr>
        <p:txBody>
          <a:bodyPr wrap="square" rtlCol="0">
            <a:spAutoFit/>
          </a:bodyPr>
          <a:lstStyle/>
          <a:p>
            <a:r>
              <a:rPr lang="en-US" sz="2400" dirty="0" smtClean="0">
                <a:solidFill>
                  <a:srgbClr val="FF0000"/>
                </a:solidFill>
              </a:rPr>
              <a:t>         Fission                                                                                  1-2 GW</a:t>
            </a:r>
            <a:endParaRPr lang="en-US" sz="2400" dirty="0">
              <a:solidFill>
                <a:srgbClr val="FF0000"/>
              </a:solidFill>
            </a:endParaRPr>
          </a:p>
        </p:txBody>
      </p:sp>
      <p:sp>
        <p:nvSpPr>
          <p:cNvPr id="6" name="TextBox 5"/>
          <p:cNvSpPr txBox="1"/>
          <p:nvPr/>
        </p:nvSpPr>
        <p:spPr>
          <a:xfrm>
            <a:off x="705495" y="5048931"/>
            <a:ext cx="8246454" cy="461665"/>
          </a:xfrm>
          <a:prstGeom prst="rect">
            <a:avLst/>
          </a:prstGeom>
          <a:noFill/>
        </p:spPr>
        <p:txBody>
          <a:bodyPr wrap="square" rtlCol="0">
            <a:spAutoFit/>
          </a:bodyPr>
          <a:lstStyle/>
          <a:p>
            <a:r>
              <a:rPr lang="en-US" sz="2400" dirty="0" smtClean="0">
                <a:solidFill>
                  <a:srgbClr val="FF0000"/>
                </a:solidFill>
              </a:rPr>
              <a:t>       Fusion                                                                                 ?????</a:t>
            </a:r>
            <a:endParaRPr lang="en-US" sz="2400" dirty="0">
              <a:solidFill>
                <a:srgbClr val="FF0000"/>
              </a:solidFill>
            </a:endParaRPr>
          </a:p>
        </p:txBody>
      </p:sp>
    </p:spTree>
    <p:extLst>
      <p:ext uri="{BB962C8B-B14F-4D97-AF65-F5344CB8AC3E}">
        <p14:creationId xmlns:p14="http://schemas.microsoft.com/office/powerpoint/2010/main" val="2700014177"/>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585" y="1285755"/>
            <a:ext cx="9704477" cy="6740308"/>
          </a:xfrm>
          <a:prstGeom prst="rect">
            <a:avLst/>
          </a:prstGeom>
        </p:spPr>
        <p:txBody>
          <a:bodyPr wrap="square">
            <a:spAutoFit/>
          </a:bodyPr>
          <a:lstStyle/>
          <a:p>
            <a:r>
              <a:rPr lang="en-US" sz="2400" dirty="0" smtClean="0">
                <a:solidFill>
                  <a:srgbClr val="FF0000"/>
                </a:solidFill>
              </a:rPr>
              <a:t>Hydro Electric                                                                   100MW- 20 GW</a:t>
            </a:r>
            <a:endParaRPr lang="en-US" sz="2400" dirty="0">
              <a:solidFill>
                <a:srgbClr val="FF0000"/>
              </a:solidFill>
            </a:endParaRPr>
          </a:p>
          <a:p>
            <a:endParaRPr lang="en-US" sz="2400" dirty="0">
              <a:solidFill>
                <a:srgbClr val="FF0000"/>
              </a:solidFill>
            </a:endParaRPr>
          </a:p>
          <a:p>
            <a:endParaRPr lang="en-US" dirty="0" smtClean="0">
              <a:solidFill>
                <a:srgbClr val="FF0000"/>
              </a:solidFill>
            </a:endParaRPr>
          </a:p>
          <a:p>
            <a:endParaRPr lang="en-US" dirty="0">
              <a:solidFill>
                <a:srgbClr val="FF0000"/>
              </a:solidFill>
            </a:endParaRPr>
          </a:p>
          <a:p>
            <a:endParaRPr lang="en-US" dirty="0" smtClean="0">
              <a:solidFill>
                <a:srgbClr val="FF0000"/>
              </a:solidFill>
            </a:endParaRPr>
          </a:p>
          <a:p>
            <a:endParaRPr lang="en-US" dirty="0" smtClean="0">
              <a:solidFill>
                <a:srgbClr val="FF0000"/>
              </a:solidFill>
            </a:endParaRPr>
          </a:p>
          <a:p>
            <a:endParaRPr lang="en-US" dirty="0">
              <a:solidFill>
                <a:srgbClr val="FF0000"/>
              </a:solidFill>
            </a:endParaRPr>
          </a:p>
          <a:p>
            <a:endParaRPr lang="en-US" dirty="0" smtClean="0">
              <a:solidFill>
                <a:srgbClr val="FF0000"/>
              </a:solidFill>
            </a:endParaRPr>
          </a:p>
          <a:p>
            <a:endParaRPr lang="en-US" dirty="0">
              <a:solidFill>
                <a:srgbClr val="FF0000"/>
              </a:solidFill>
            </a:endParaRPr>
          </a:p>
          <a:p>
            <a:endParaRPr lang="en-US" dirty="0" smtClean="0">
              <a:solidFill>
                <a:srgbClr val="FF0000"/>
              </a:solidFill>
            </a:endParaRPr>
          </a:p>
          <a:p>
            <a:endParaRPr lang="en-US" dirty="0">
              <a:solidFill>
                <a:srgbClr val="FF0000"/>
              </a:solidFill>
            </a:endParaRPr>
          </a:p>
          <a:p>
            <a:endParaRPr lang="en-US" dirty="0">
              <a:solidFill>
                <a:srgbClr val="FF0000"/>
              </a:solidFill>
            </a:endParaRPr>
          </a:p>
          <a:p>
            <a:r>
              <a:rPr lang="en-US" sz="2400" dirty="0" smtClean="0">
                <a:solidFill>
                  <a:srgbClr val="FF0000"/>
                </a:solidFill>
              </a:rPr>
              <a:t>Wind                                                                                             500 MW</a:t>
            </a:r>
          </a:p>
          <a:p>
            <a:endParaRPr lang="en-US" dirty="0">
              <a:solidFill>
                <a:srgbClr val="FF0000"/>
              </a:solidFill>
            </a:endParaRPr>
          </a:p>
          <a:p>
            <a:endParaRPr lang="en-US" dirty="0" smtClean="0">
              <a:solidFill>
                <a:srgbClr val="FF0000"/>
              </a:solidFill>
            </a:endParaRPr>
          </a:p>
          <a:p>
            <a:endParaRPr lang="en-US" dirty="0">
              <a:solidFill>
                <a:srgbClr val="FF0000"/>
              </a:solidFill>
            </a:endParaRPr>
          </a:p>
          <a:p>
            <a:endParaRPr lang="en-US" dirty="0" smtClean="0">
              <a:solidFill>
                <a:srgbClr val="FF0000"/>
              </a:solidFill>
            </a:endParaRPr>
          </a:p>
          <a:p>
            <a:endParaRPr lang="en-US" dirty="0">
              <a:solidFill>
                <a:srgbClr val="FF0000"/>
              </a:solidFill>
            </a:endParaRPr>
          </a:p>
          <a:p>
            <a:endParaRPr lang="en-US" dirty="0">
              <a:solidFill>
                <a:srgbClr val="FF0000"/>
              </a:solidFill>
            </a:endParaRPr>
          </a:p>
          <a:p>
            <a:endParaRPr lang="en-US" dirty="0" smtClean="0">
              <a:solidFill>
                <a:srgbClr val="FF0000"/>
              </a:solidFill>
            </a:endParaRPr>
          </a:p>
          <a:p>
            <a:endParaRPr lang="en-US" dirty="0">
              <a:solidFill>
                <a:srgbClr val="FF0000"/>
              </a:solidFill>
            </a:endParaRPr>
          </a:p>
          <a:p>
            <a:endParaRPr lang="en-US" dirty="0" smtClean="0">
              <a:solidFill>
                <a:srgbClr val="FF0000"/>
              </a:solidFill>
            </a:endParaRPr>
          </a:p>
          <a:p>
            <a:endParaRPr lang="en-US" dirty="0" smtClean="0">
              <a:solidFill>
                <a:srgbClr val="FF0000"/>
              </a:solidFill>
            </a:endParaRPr>
          </a:p>
        </p:txBody>
      </p:sp>
      <p:sp>
        <p:nvSpPr>
          <p:cNvPr id="3" name="TextBox 2"/>
          <p:cNvSpPr txBox="1"/>
          <p:nvPr/>
        </p:nvSpPr>
        <p:spPr>
          <a:xfrm>
            <a:off x="1646155" y="172478"/>
            <a:ext cx="6459199" cy="646331"/>
          </a:xfrm>
          <a:prstGeom prst="rect">
            <a:avLst/>
          </a:prstGeom>
          <a:noFill/>
        </p:spPr>
        <p:txBody>
          <a:bodyPr wrap="square" rtlCol="0">
            <a:spAutoFit/>
          </a:bodyPr>
          <a:lstStyle/>
          <a:p>
            <a:r>
              <a:rPr lang="en-US" sz="2800" dirty="0" smtClean="0">
                <a:solidFill>
                  <a:srgbClr val="0000FF"/>
                </a:solidFill>
              </a:rPr>
              <a:t>                  Renewables:  </a:t>
            </a:r>
            <a:r>
              <a:rPr lang="en-US" sz="3600" dirty="0" smtClean="0">
                <a:solidFill>
                  <a:srgbClr val="C22CB8"/>
                </a:solidFill>
              </a:rPr>
              <a:t>25% in 2017</a:t>
            </a:r>
            <a:endParaRPr lang="en-US" sz="3600" dirty="0">
              <a:solidFill>
                <a:srgbClr val="C22CB8"/>
              </a:solidFill>
            </a:endParaRPr>
          </a:p>
        </p:txBody>
      </p:sp>
      <p:pic>
        <p:nvPicPr>
          <p:cNvPr id="4" name="Picture 3" descr="kerrd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6304" y="1103377"/>
            <a:ext cx="3496119" cy="2334765"/>
          </a:xfrm>
          <a:prstGeom prst="rect">
            <a:avLst/>
          </a:prstGeom>
        </p:spPr>
      </p:pic>
      <p:pic>
        <p:nvPicPr>
          <p:cNvPr id="5" name="Picture 4" descr="thanet_wind_farm_2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2504" y="3847392"/>
            <a:ext cx="3960673" cy="2189372"/>
          </a:xfrm>
          <a:prstGeom prst="rect">
            <a:avLst/>
          </a:prstGeom>
        </p:spPr>
      </p:pic>
      <p:sp>
        <p:nvSpPr>
          <p:cNvPr id="6" name="TextBox 5"/>
          <p:cNvSpPr txBox="1"/>
          <p:nvPr/>
        </p:nvSpPr>
        <p:spPr>
          <a:xfrm>
            <a:off x="141099" y="6224923"/>
            <a:ext cx="8940189" cy="461665"/>
          </a:xfrm>
          <a:prstGeom prst="rect">
            <a:avLst/>
          </a:prstGeom>
          <a:noFill/>
        </p:spPr>
        <p:txBody>
          <a:bodyPr wrap="square" rtlCol="0">
            <a:spAutoFit/>
          </a:bodyPr>
          <a:lstStyle/>
          <a:p>
            <a:r>
              <a:rPr lang="en-US" sz="2400" dirty="0" smtClean="0">
                <a:solidFill>
                  <a:srgbClr val="3366FF"/>
                </a:solidFill>
              </a:rPr>
              <a:t> 2016: UK </a:t>
            </a:r>
            <a:r>
              <a:rPr lang="en-US" sz="2400" dirty="0">
                <a:solidFill>
                  <a:srgbClr val="3366FF"/>
                </a:solidFill>
              </a:rPr>
              <a:t>generated more electricity from wind power than from </a:t>
            </a:r>
            <a:r>
              <a:rPr lang="en-US" sz="2400" dirty="0" smtClean="0">
                <a:solidFill>
                  <a:srgbClr val="3366FF"/>
                </a:solidFill>
              </a:rPr>
              <a:t>coal</a:t>
            </a:r>
            <a:endParaRPr lang="en-US" sz="2400" dirty="0">
              <a:solidFill>
                <a:srgbClr val="3366FF"/>
              </a:solidFill>
            </a:endParaRPr>
          </a:p>
        </p:txBody>
      </p:sp>
    </p:spTree>
    <p:extLst>
      <p:ext uri="{BB962C8B-B14F-4D97-AF65-F5344CB8AC3E}">
        <p14:creationId xmlns:p14="http://schemas.microsoft.com/office/powerpoint/2010/main" val="3701540189"/>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4726" y="454713"/>
            <a:ext cx="7180372" cy="6001642"/>
          </a:xfrm>
          <a:prstGeom prst="rect">
            <a:avLst/>
          </a:prstGeom>
          <a:noFill/>
        </p:spPr>
        <p:txBody>
          <a:bodyPr wrap="square" rtlCol="0">
            <a:spAutoFit/>
          </a:bodyPr>
          <a:lstStyle/>
          <a:p>
            <a:endParaRPr lang="en-US" sz="2400" dirty="0" smtClean="0">
              <a:solidFill>
                <a:srgbClr val="FF0000"/>
              </a:solidFill>
            </a:endParaRPr>
          </a:p>
          <a:p>
            <a:endParaRPr lang="en-US" sz="2400" dirty="0">
              <a:solidFill>
                <a:srgbClr val="FF0000"/>
              </a:solidFill>
            </a:endParaRPr>
          </a:p>
          <a:p>
            <a:r>
              <a:rPr lang="en-US" sz="2400" dirty="0" smtClean="0">
                <a:solidFill>
                  <a:srgbClr val="FF0000"/>
                </a:solidFill>
              </a:rPr>
              <a:t>Solar                                                                            10 kW</a:t>
            </a: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r>
              <a:rPr lang="en-US" sz="2400" dirty="0" smtClean="0">
                <a:solidFill>
                  <a:srgbClr val="FF0000"/>
                </a:solidFill>
              </a:rPr>
              <a:t>Wave                                                                         20 MW</a:t>
            </a: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endParaRPr lang="en-US" sz="2400" dirty="0" smtClean="0">
              <a:solidFill>
                <a:srgbClr val="FF0000"/>
              </a:solidFill>
            </a:endParaRPr>
          </a:p>
          <a:p>
            <a:endParaRPr lang="en-US" sz="2400" dirty="0">
              <a:solidFill>
                <a:srgbClr val="FF0000"/>
              </a:solidFill>
            </a:endParaRPr>
          </a:p>
          <a:p>
            <a:r>
              <a:rPr lang="en-US" sz="2400" dirty="0" smtClean="0">
                <a:solidFill>
                  <a:srgbClr val="FF0000"/>
                </a:solidFill>
              </a:rPr>
              <a:t>Tidal:    </a:t>
            </a:r>
            <a:r>
              <a:rPr lang="en-US" sz="2400" dirty="0" err="1" smtClean="0">
                <a:solidFill>
                  <a:srgbClr val="FF0000"/>
                </a:solidFill>
              </a:rPr>
              <a:t>Sihwa</a:t>
            </a:r>
            <a:r>
              <a:rPr lang="en-US" sz="2400" dirty="0" smtClean="0">
                <a:solidFill>
                  <a:srgbClr val="FF0000"/>
                </a:solidFill>
              </a:rPr>
              <a:t> (Korea) 200 MW</a:t>
            </a:r>
          </a:p>
        </p:txBody>
      </p:sp>
      <p:pic>
        <p:nvPicPr>
          <p:cNvPr id="3" name="Picture 2" descr="solar-departmentofenergy.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7401" y="454713"/>
            <a:ext cx="3468684" cy="1951135"/>
          </a:xfrm>
          <a:prstGeom prst="rect">
            <a:avLst/>
          </a:prstGeom>
        </p:spPr>
      </p:pic>
      <p:pic>
        <p:nvPicPr>
          <p:cNvPr id="4" name="Picture 3" descr="wave_power_20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9015" y="2982991"/>
            <a:ext cx="3464764" cy="2598572"/>
          </a:xfrm>
          <a:prstGeom prst="rect">
            <a:avLst/>
          </a:prstGeom>
        </p:spPr>
      </p:pic>
    </p:spTree>
    <p:extLst>
      <p:ext uri="{BB962C8B-B14F-4D97-AF65-F5344CB8AC3E}">
        <p14:creationId xmlns:p14="http://schemas.microsoft.com/office/powerpoint/2010/main" val="3326170243"/>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5569" y="423354"/>
            <a:ext cx="5706671" cy="523220"/>
          </a:xfrm>
          <a:prstGeom prst="rect">
            <a:avLst/>
          </a:prstGeom>
          <a:noFill/>
        </p:spPr>
        <p:txBody>
          <a:bodyPr wrap="square" rtlCol="0">
            <a:spAutoFit/>
          </a:bodyPr>
          <a:lstStyle/>
          <a:p>
            <a:r>
              <a:rPr lang="en-US" sz="2800" dirty="0" smtClean="0">
                <a:solidFill>
                  <a:srgbClr val="3366FF"/>
                </a:solidFill>
              </a:rPr>
              <a:t>Consumers</a:t>
            </a:r>
            <a:endParaRPr lang="en-US" sz="2800" dirty="0">
              <a:solidFill>
                <a:srgbClr val="3366FF"/>
              </a:solidFill>
            </a:endParaRPr>
          </a:p>
        </p:txBody>
      </p:sp>
      <p:sp>
        <p:nvSpPr>
          <p:cNvPr id="3" name="TextBox 2"/>
          <p:cNvSpPr txBox="1"/>
          <p:nvPr/>
        </p:nvSpPr>
        <p:spPr>
          <a:xfrm>
            <a:off x="768206" y="1881589"/>
            <a:ext cx="7666380" cy="3785652"/>
          </a:xfrm>
          <a:prstGeom prst="rect">
            <a:avLst/>
          </a:prstGeom>
          <a:noFill/>
        </p:spPr>
        <p:txBody>
          <a:bodyPr wrap="square" rtlCol="0">
            <a:spAutoFit/>
          </a:bodyPr>
          <a:lstStyle/>
          <a:p>
            <a:r>
              <a:rPr lang="en-US" sz="2400" dirty="0" smtClean="0">
                <a:solidFill>
                  <a:srgbClr val="FF0000"/>
                </a:solidFill>
              </a:rPr>
              <a:t>Factory</a:t>
            </a:r>
          </a:p>
          <a:p>
            <a:endParaRPr lang="en-US" sz="2400" dirty="0">
              <a:solidFill>
                <a:srgbClr val="FF0000"/>
              </a:solidFill>
            </a:endParaRPr>
          </a:p>
          <a:p>
            <a:endParaRPr lang="en-US" sz="2400" dirty="0" smtClean="0">
              <a:solidFill>
                <a:srgbClr val="FF0000"/>
              </a:solidFill>
            </a:endParaRPr>
          </a:p>
          <a:p>
            <a:r>
              <a:rPr lang="en-US" sz="2400" dirty="0" smtClean="0">
                <a:solidFill>
                  <a:srgbClr val="FF0000"/>
                </a:solidFill>
              </a:rPr>
              <a:t>Household      </a:t>
            </a:r>
            <a:r>
              <a:rPr lang="en-US" sz="2400" dirty="0" smtClean="0">
                <a:solidFill>
                  <a:srgbClr val="0000FF"/>
                </a:solidFill>
              </a:rPr>
              <a:t>500W</a:t>
            </a:r>
            <a:r>
              <a:rPr lang="en-US" sz="2400" dirty="0" smtClean="0">
                <a:solidFill>
                  <a:srgbClr val="FF0000"/>
                </a:solidFill>
              </a:rPr>
              <a:t> </a:t>
            </a:r>
          </a:p>
          <a:p>
            <a:endParaRPr lang="en-US" sz="2400" dirty="0">
              <a:solidFill>
                <a:srgbClr val="FF0000"/>
              </a:solidFill>
            </a:endParaRPr>
          </a:p>
          <a:p>
            <a:endParaRPr lang="en-US" sz="2400" dirty="0" smtClean="0">
              <a:solidFill>
                <a:srgbClr val="FF0000"/>
              </a:solidFill>
            </a:endParaRPr>
          </a:p>
          <a:p>
            <a:r>
              <a:rPr lang="en-US" sz="2400" dirty="0" smtClean="0">
                <a:solidFill>
                  <a:srgbClr val="FF0000"/>
                </a:solidFill>
              </a:rPr>
              <a:t>Smart users</a:t>
            </a:r>
          </a:p>
          <a:p>
            <a:endParaRPr lang="en-US" sz="2400" dirty="0">
              <a:solidFill>
                <a:srgbClr val="FF0000"/>
              </a:solidFill>
            </a:endParaRPr>
          </a:p>
          <a:p>
            <a:endParaRPr lang="en-US" sz="2400" dirty="0" smtClean="0">
              <a:solidFill>
                <a:srgbClr val="FF0000"/>
              </a:solidFill>
            </a:endParaRPr>
          </a:p>
          <a:p>
            <a:r>
              <a:rPr lang="en-US" sz="2400" dirty="0" smtClean="0">
                <a:solidFill>
                  <a:srgbClr val="FF0000"/>
                </a:solidFill>
              </a:rPr>
              <a:t>Electrical  vehicles   </a:t>
            </a:r>
            <a:r>
              <a:rPr lang="en-US" sz="2400" dirty="0" smtClean="0">
                <a:solidFill>
                  <a:srgbClr val="0000FF"/>
                </a:solidFill>
              </a:rPr>
              <a:t>1-2 kW!!</a:t>
            </a:r>
            <a:endParaRPr lang="en-US" sz="2400" dirty="0">
              <a:solidFill>
                <a:srgbClr val="0000FF"/>
              </a:solidFill>
            </a:endParaRPr>
          </a:p>
        </p:txBody>
      </p:sp>
      <p:pic>
        <p:nvPicPr>
          <p:cNvPr id="4" name="Picture 3" descr="electric-car-electric-vechile-EV.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8549" y="3941731"/>
            <a:ext cx="3779761" cy="2314139"/>
          </a:xfrm>
          <a:prstGeom prst="rect">
            <a:avLst/>
          </a:prstGeom>
        </p:spPr>
      </p:pic>
      <p:pic>
        <p:nvPicPr>
          <p:cNvPr id="5" name="Picture 4" descr="plug-pic-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1075" y="513876"/>
            <a:ext cx="3647235" cy="2735426"/>
          </a:xfrm>
          <a:prstGeom prst="rect">
            <a:avLst/>
          </a:prstGeom>
        </p:spPr>
      </p:pic>
    </p:spTree>
    <p:extLst>
      <p:ext uri="{BB962C8B-B14F-4D97-AF65-F5344CB8AC3E}">
        <p14:creationId xmlns:p14="http://schemas.microsoft.com/office/powerpoint/2010/main" val="562340789"/>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ousehold1.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4" y="182620"/>
            <a:ext cx="7357426" cy="5691594"/>
          </a:xfrm>
          <a:prstGeom prst="rect">
            <a:avLst/>
          </a:prstGeom>
        </p:spPr>
      </p:pic>
      <p:sp>
        <p:nvSpPr>
          <p:cNvPr id="3" name="TextBox 2"/>
          <p:cNvSpPr txBox="1"/>
          <p:nvPr/>
        </p:nvSpPr>
        <p:spPr>
          <a:xfrm>
            <a:off x="156776" y="6334683"/>
            <a:ext cx="7587991" cy="461665"/>
          </a:xfrm>
          <a:prstGeom prst="rect">
            <a:avLst/>
          </a:prstGeom>
          <a:noFill/>
        </p:spPr>
        <p:txBody>
          <a:bodyPr wrap="square" rtlCol="0">
            <a:spAutoFit/>
          </a:bodyPr>
          <a:lstStyle/>
          <a:p>
            <a:r>
              <a:rPr lang="en-US" sz="2400" dirty="0" smtClean="0">
                <a:solidFill>
                  <a:srgbClr val="FF0000"/>
                </a:solidFill>
              </a:rPr>
              <a:t>                      UK:  4600 </a:t>
            </a:r>
            <a:r>
              <a:rPr lang="en-US" sz="2400" dirty="0" err="1" smtClean="0">
                <a:solidFill>
                  <a:srgbClr val="FF0000"/>
                </a:solidFill>
              </a:rPr>
              <a:t>kWHours</a:t>
            </a:r>
            <a:r>
              <a:rPr lang="en-US" sz="2400" dirty="0" smtClean="0">
                <a:solidFill>
                  <a:srgbClr val="FF0000"/>
                </a:solidFill>
              </a:rPr>
              <a:t>  =   500W  on average </a:t>
            </a:r>
            <a:endParaRPr lang="en-US" sz="2400" dirty="0">
              <a:solidFill>
                <a:srgbClr val="FF0000"/>
              </a:solidFill>
            </a:endParaRPr>
          </a:p>
        </p:txBody>
      </p:sp>
    </p:spTree>
    <p:extLst>
      <p:ext uri="{BB962C8B-B14F-4D97-AF65-F5344CB8AC3E}">
        <p14:creationId xmlns:p14="http://schemas.microsoft.com/office/powerpoint/2010/main" val="681833556"/>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881331" y="1254396"/>
            <a:ext cx="5596917" cy="3901213"/>
          </a:xfrm>
          <a:prstGeom prst="rect">
            <a:avLst/>
          </a:prstGeom>
          <a:extLst>
            <a:ext uri="{FAA26D3D-D897-4be2-8F04-BA451C77F1D7}">
              <ma14:placeholderFlag xmlns:ma14="http://schemas.microsoft.com/office/mac/drawingml/2011/main"/>
            </a:ext>
          </a:extLst>
        </p:spPr>
      </p:pic>
      <p:sp>
        <p:nvSpPr>
          <p:cNvPr id="6" name="Rounded Rectangle 5"/>
          <p:cNvSpPr/>
          <p:nvPr/>
        </p:nvSpPr>
        <p:spPr>
          <a:xfrm>
            <a:off x="2430039" y="5017571"/>
            <a:ext cx="4138904" cy="166207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329231" y="360638"/>
            <a:ext cx="9046042" cy="523220"/>
          </a:xfrm>
          <a:prstGeom prst="rect">
            <a:avLst/>
          </a:prstGeom>
          <a:noFill/>
        </p:spPr>
        <p:txBody>
          <a:bodyPr wrap="square" rtlCol="0">
            <a:spAutoFit/>
          </a:bodyPr>
          <a:lstStyle/>
          <a:p>
            <a:r>
              <a:rPr lang="en-US" sz="2400" dirty="0" smtClean="0">
                <a:solidFill>
                  <a:srgbClr val="0000FF"/>
                </a:solidFill>
              </a:rPr>
              <a:t>        </a:t>
            </a:r>
            <a:r>
              <a:rPr lang="en-US" sz="2800" dirty="0" smtClean="0">
                <a:solidFill>
                  <a:srgbClr val="0000FF"/>
                </a:solidFill>
              </a:rPr>
              <a:t> Power is supplied as </a:t>
            </a:r>
            <a:r>
              <a:rPr lang="en-US" sz="2800" dirty="0" smtClean="0">
                <a:solidFill>
                  <a:srgbClr val="FF0000"/>
                </a:solidFill>
              </a:rPr>
              <a:t>three phase Alternating Current</a:t>
            </a:r>
            <a:endParaRPr lang="en-US" sz="2800" dirty="0">
              <a:solidFill>
                <a:srgbClr val="FF0000"/>
              </a:solidFill>
            </a:endParaRPr>
          </a:p>
        </p:txBody>
      </p:sp>
      <p:pic>
        <p:nvPicPr>
          <p:cNvPr id="7" name="Picture 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0686" y="5211938"/>
            <a:ext cx="2552700" cy="520700"/>
          </a:xfrm>
          <a:prstGeom prst="rect">
            <a:avLst/>
          </a:prstGeom>
        </p:spPr>
      </p:pic>
      <p:pic>
        <p:nvPicPr>
          <p:cNvPr id="8" name="Picture 7"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6895" y="5917534"/>
            <a:ext cx="2425700" cy="520700"/>
          </a:xfrm>
          <a:prstGeom prst="rect">
            <a:avLst/>
          </a:prstGeom>
        </p:spPr>
      </p:pic>
      <p:pic>
        <p:nvPicPr>
          <p:cNvPr id="9" name="Picture 8"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76438" y="5701777"/>
            <a:ext cx="1587500" cy="419100"/>
          </a:xfrm>
          <a:prstGeom prst="rect">
            <a:avLst/>
          </a:prstGeom>
        </p:spPr>
      </p:pic>
    </p:spTree>
    <p:extLst>
      <p:ext uri="{BB962C8B-B14F-4D97-AF65-F5344CB8AC3E}">
        <p14:creationId xmlns:p14="http://schemas.microsoft.com/office/powerpoint/2010/main" val="101487733"/>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430037" y="2979183"/>
            <a:ext cx="3543153" cy="91615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380" name="Text Box 4"/>
          <p:cNvSpPr txBox="1">
            <a:spLocks noChangeArrowheads="1"/>
          </p:cNvSpPr>
          <p:nvPr/>
        </p:nvSpPr>
        <p:spPr bwMode="auto">
          <a:xfrm>
            <a:off x="1676400" y="533400"/>
            <a:ext cx="777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800" dirty="0">
                <a:solidFill>
                  <a:srgbClr val="0000FF"/>
                </a:solidFill>
                <a:latin typeface="Arial" charset="0"/>
                <a:cs typeface="Arial" charset="0"/>
              </a:rPr>
              <a:t>Anatomy of </a:t>
            </a:r>
            <a:r>
              <a:rPr lang="en-US" sz="2800" dirty="0" smtClean="0">
                <a:solidFill>
                  <a:srgbClr val="0000FF"/>
                </a:solidFill>
                <a:latin typeface="Arial" charset="0"/>
                <a:cs typeface="Arial" charset="0"/>
              </a:rPr>
              <a:t>a power network</a:t>
            </a:r>
            <a:endParaRPr lang="en-US" dirty="0">
              <a:solidFill>
                <a:srgbClr val="0000FF"/>
              </a:solidFill>
              <a:latin typeface="Arial" charset="0"/>
              <a:cs typeface="Arial" charset="0"/>
            </a:endParaRPr>
          </a:p>
        </p:txBody>
      </p:sp>
      <p:sp>
        <p:nvSpPr>
          <p:cNvPr id="229381" name="Text Box 5"/>
          <p:cNvSpPr txBox="1">
            <a:spLocks noChangeArrowheads="1"/>
          </p:cNvSpPr>
          <p:nvPr/>
        </p:nvSpPr>
        <p:spPr bwMode="auto">
          <a:xfrm>
            <a:off x="533400" y="1651920"/>
            <a:ext cx="7848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Arial" charset="0"/>
                <a:cs typeface="Arial" charset="0"/>
              </a:rPr>
              <a:t>Represent AC voltage by a </a:t>
            </a:r>
            <a:r>
              <a:rPr lang="en-US" sz="2400" dirty="0" smtClean="0">
                <a:latin typeface="Arial" charset="0"/>
                <a:cs typeface="Arial" charset="0"/>
              </a:rPr>
              <a:t> complex </a:t>
            </a:r>
            <a:r>
              <a:rPr lang="en-US" sz="2400" dirty="0" smtClean="0">
                <a:solidFill>
                  <a:srgbClr val="FF0000"/>
                </a:solidFill>
                <a:latin typeface="Arial" charset="0"/>
                <a:cs typeface="Arial" charset="0"/>
              </a:rPr>
              <a:t>voltage </a:t>
            </a:r>
            <a:r>
              <a:rPr lang="en-US" sz="2400" dirty="0">
                <a:solidFill>
                  <a:srgbClr val="FF0000"/>
                </a:solidFill>
                <a:latin typeface="Arial" charset="0"/>
                <a:cs typeface="Arial" charset="0"/>
              </a:rPr>
              <a:t>V</a:t>
            </a:r>
            <a:r>
              <a:rPr lang="en-US" sz="2400" dirty="0">
                <a:latin typeface="Arial" charset="0"/>
                <a:cs typeface="Arial" charset="0"/>
              </a:rPr>
              <a:t> and a </a:t>
            </a:r>
            <a:r>
              <a:rPr lang="en-US" sz="2400" dirty="0" smtClean="0">
                <a:latin typeface="Arial" charset="0"/>
                <a:cs typeface="Arial" charset="0"/>
              </a:rPr>
              <a:t>and </a:t>
            </a:r>
            <a:r>
              <a:rPr lang="en-US" sz="2400" dirty="0" smtClean="0">
                <a:solidFill>
                  <a:srgbClr val="FF0000"/>
                </a:solidFill>
                <a:latin typeface="Arial" charset="0"/>
                <a:cs typeface="Arial" charset="0"/>
              </a:rPr>
              <a:t>associated complex </a:t>
            </a:r>
            <a:r>
              <a:rPr lang="en-US" sz="2400" dirty="0">
                <a:solidFill>
                  <a:srgbClr val="FF0000"/>
                </a:solidFill>
                <a:latin typeface="Arial" charset="0"/>
                <a:cs typeface="Arial" charset="0"/>
              </a:rPr>
              <a:t>current I</a:t>
            </a:r>
            <a:endParaRPr lang="en-US" sz="2400" dirty="0">
              <a:latin typeface="Arial" charset="0"/>
              <a:cs typeface="Arial" charset="0"/>
            </a:endParaRPr>
          </a:p>
          <a:p>
            <a:pPr>
              <a:spcBef>
                <a:spcPct val="50000"/>
              </a:spcBef>
              <a:defRPr/>
            </a:pPr>
            <a:endParaRPr lang="en-US" sz="2400" dirty="0">
              <a:cs typeface="Arial" charset="0"/>
            </a:endParaRPr>
          </a:p>
          <a:p>
            <a:pPr>
              <a:spcBef>
                <a:spcPct val="50000"/>
              </a:spcBef>
              <a:defRPr/>
            </a:pPr>
            <a:r>
              <a:rPr lang="en-US" sz="2400" dirty="0">
                <a:solidFill>
                  <a:srgbClr val="0000FF"/>
                </a:solidFill>
                <a:latin typeface="Arial" charset="0"/>
                <a:cs typeface="Arial" charset="0"/>
              </a:rPr>
              <a:t>AC </a:t>
            </a:r>
            <a:r>
              <a:rPr lang="en-US" sz="2400" dirty="0" smtClean="0">
                <a:solidFill>
                  <a:srgbClr val="0000FF"/>
                </a:solidFill>
                <a:latin typeface="Arial" charset="0"/>
                <a:cs typeface="Arial" charset="0"/>
              </a:rPr>
              <a:t>Power</a:t>
            </a:r>
            <a:endParaRPr lang="en-US" sz="2400" dirty="0">
              <a:solidFill>
                <a:srgbClr val="FF0000"/>
              </a:solidFill>
              <a:cs typeface="Arial" charset="0"/>
            </a:endParaRPr>
          </a:p>
        </p:txBody>
      </p:sp>
      <p:sp>
        <p:nvSpPr>
          <p:cNvPr id="229382" name="Text Box 6"/>
          <p:cNvSpPr txBox="1">
            <a:spLocks noChangeArrowheads="1"/>
          </p:cNvSpPr>
          <p:nvPr/>
        </p:nvSpPr>
        <p:spPr bwMode="auto">
          <a:xfrm>
            <a:off x="457200" y="4572000"/>
            <a:ext cx="7620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solidFill>
                  <a:srgbClr val="3366FF"/>
                </a:solidFill>
                <a:latin typeface="Arial" charset="0"/>
                <a:cs typeface="Arial" charset="0"/>
              </a:rPr>
              <a:t>P: Real Power</a:t>
            </a:r>
          </a:p>
          <a:p>
            <a:pPr>
              <a:spcBef>
                <a:spcPct val="50000"/>
              </a:spcBef>
              <a:defRPr/>
            </a:pPr>
            <a:r>
              <a:rPr lang="en-US" sz="2400" dirty="0">
                <a:solidFill>
                  <a:srgbClr val="FF3236"/>
                </a:solidFill>
                <a:latin typeface="Arial" charset="0"/>
                <a:cs typeface="Arial" charset="0"/>
              </a:rPr>
              <a:t>Q: Reactive Power</a:t>
            </a:r>
            <a:endParaRPr lang="en-US" sz="2400" dirty="0">
              <a:solidFill>
                <a:srgbClr val="FF3236"/>
              </a:solidFill>
              <a:cs typeface="Arial" charset="0"/>
            </a:endParaRPr>
          </a:p>
        </p:txBody>
      </p:sp>
      <p:sp>
        <p:nvSpPr>
          <p:cNvPr id="229383" name="Text Box 7"/>
          <p:cNvSpPr txBox="1">
            <a:spLocks noChangeArrowheads="1"/>
          </p:cNvSpPr>
          <p:nvPr/>
        </p:nvSpPr>
        <p:spPr bwMode="auto">
          <a:xfrm>
            <a:off x="533400" y="6096000"/>
            <a:ext cx="868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Arial" charset="0"/>
                <a:cs typeface="Arial" charset="0"/>
              </a:rPr>
              <a:t>In a typical network </a:t>
            </a:r>
            <a:r>
              <a:rPr lang="en-US" sz="2400" dirty="0" smtClean="0">
                <a:latin typeface="Arial" charset="0"/>
                <a:cs typeface="Arial" charset="0"/>
              </a:rPr>
              <a:t>     </a:t>
            </a:r>
            <a:r>
              <a:rPr lang="en-US" sz="2400" dirty="0" smtClean="0">
                <a:solidFill>
                  <a:srgbClr val="FF0000"/>
                </a:solidFill>
                <a:latin typeface="Arial" charset="0"/>
                <a:cs typeface="Arial" charset="0"/>
              </a:rPr>
              <a:t>P </a:t>
            </a:r>
            <a:r>
              <a:rPr lang="en-US" sz="2400" dirty="0">
                <a:solidFill>
                  <a:srgbClr val="FF0000"/>
                </a:solidFill>
                <a:latin typeface="Arial" charset="0"/>
                <a:cs typeface="Arial" charset="0"/>
              </a:rPr>
              <a:t>and Q are given functions</a:t>
            </a:r>
          </a:p>
        </p:txBody>
      </p:sp>
      <p:pic>
        <p:nvPicPr>
          <p:cNvPr id="37893" name="Picture 8" descr="acinde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25" y="4224615"/>
            <a:ext cx="2492375"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0699" y="3258690"/>
            <a:ext cx="2933700" cy="444500"/>
          </a:xfrm>
          <a:prstGeom prst="rect">
            <a:avLst/>
          </a:prstGeom>
        </p:spPr>
      </p:pic>
    </p:spTree>
    <p:extLst>
      <p:ext uri="{BB962C8B-B14F-4D97-AF65-F5344CB8AC3E}">
        <p14:creationId xmlns:p14="http://schemas.microsoft.com/office/powerpoint/2010/main" val="38605464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580075" y="1207355"/>
            <a:ext cx="7768123" cy="5095969"/>
          </a:xfrm>
          <a:prstGeom prst="rect">
            <a:avLst/>
          </a:prstGeom>
          <a:extLst>
            <a:ext uri="{FAA26D3D-D897-4be2-8F04-BA451C77F1D7}">
              <ma14:placeholderFlag xmlns:ma14="http://schemas.microsoft.com/office/mac/drawingml/2011/main"/>
            </a:ext>
          </a:extLst>
        </p:spPr>
      </p:pic>
      <p:sp>
        <p:nvSpPr>
          <p:cNvPr id="2" name="TextBox 1"/>
          <p:cNvSpPr txBox="1"/>
          <p:nvPr/>
        </p:nvSpPr>
        <p:spPr>
          <a:xfrm>
            <a:off x="1505056" y="329278"/>
            <a:ext cx="6553265" cy="461665"/>
          </a:xfrm>
          <a:prstGeom prst="rect">
            <a:avLst/>
          </a:prstGeom>
          <a:noFill/>
        </p:spPr>
        <p:txBody>
          <a:bodyPr wrap="square" rtlCol="0">
            <a:spAutoFit/>
          </a:bodyPr>
          <a:lstStyle/>
          <a:p>
            <a:r>
              <a:rPr lang="en-US" sz="2400" dirty="0" smtClean="0">
                <a:solidFill>
                  <a:srgbClr val="3366FF"/>
                </a:solidFill>
              </a:rPr>
              <a:t> Typical network: many nodes and bus connections</a:t>
            </a:r>
            <a:endParaRPr lang="en-US" sz="2400" dirty="0">
              <a:solidFill>
                <a:srgbClr val="3366FF"/>
              </a:solidFill>
            </a:endParaRPr>
          </a:p>
        </p:txBody>
      </p:sp>
    </p:spTree>
    <p:extLst>
      <p:ext uri="{BB962C8B-B14F-4D97-AF65-F5344CB8AC3E}">
        <p14:creationId xmlns:p14="http://schemas.microsoft.com/office/powerpoint/2010/main" val="1144884271"/>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2" name="Text Box 4"/>
          <p:cNvSpPr txBox="1">
            <a:spLocks noChangeArrowheads="1"/>
          </p:cNvSpPr>
          <p:nvPr/>
        </p:nvSpPr>
        <p:spPr bwMode="auto">
          <a:xfrm>
            <a:off x="172458" y="343040"/>
            <a:ext cx="9144000" cy="6001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2400" dirty="0">
                <a:latin typeface="Arial" charset="0"/>
                <a:cs typeface="Arial" charset="0"/>
              </a:rPr>
              <a:t>Grid represented by </a:t>
            </a:r>
            <a:r>
              <a:rPr lang="en-US" sz="2400" dirty="0">
                <a:solidFill>
                  <a:srgbClr val="3366FF"/>
                </a:solidFill>
                <a:latin typeface="Arial" charset="0"/>
                <a:cs typeface="Arial" charset="0"/>
              </a:rPr>
              <a:t>a </a:t>
            </a:r>
            <a:r>
              <a:rPr lang="en-US" sz="2400" dirty="0" smtClean="0">
                <a:solidFill>
                  <a:srgbClr val="3366FF"/>
                </a:solidFill>
                <a:latin typeface="Arial" charset="0"/>
                <a:cs typeface="Arial" charset="0"/>
              </a:rPr>
              <a:t>set of </a:t>
            </a:r>
            <a:r>
              <a:rPr lang="en-US" sz="2400" dirty="0" smtClean="0">
                <a:solidFill>
                  <a:srgbClr val="C22CB8"/>
                </a:solidFill>
                <a:latin typeface="Arial" charset="0"/>
                <a:cs typeface="Arial" charset="0"/>
              </a:rPr>
              <a:t>N  nodes</a:t>
            </a:r>
            <a:r>
              <a:rPr lang="en-US" sz="2400" dirty="0" smtClean="0">
                <a:solidFill>
                  <a:srgbClr val="3366FF"/>
                </a:solidFill>
                <a:latin typeface="Arial" charset="0"/>
                <a:cs typeface="Arial" charset="0"/>
              </a:rPr>
              <a:t> </a:t>
            </a:r>
            <a:r>
              <a:rPr lang="en-US" sz="2400" dirty="0" smtClean="0">
                <a:latin typeface="Arial" charset="0"/>
                <a:cs typeface="Arial" charset="0"/>
              </a:rPr>
              <a:t>with </a:t>
            </a:r>
            <a:r>
              <a:rPr lang="en-US" sz="2400" dirty="0" smtClean="0">
                <a:solidFill>
                  <a:srgbClr val="0000FF"/>
                </a:solidFill>
                <a:latin typeface="Arial" charset="0"/>
                <a:cs typeface="Arial" charset="0"/>
              </a:rPr>
              <a:t>bus </a:t>
            </a:r>
            <a:r>
              <a:rPr lang="en-US" sz="2400" dirty="0">
                <a:solidFill>
                  <a:srgbClr val="0000FF"/>
                </a:solidFill>
                <a:latin typeface="Arial" charset="0"/>
                <a:cs typeface="Arial" charset="0"/>
              </a:rPr>
              <a:t>connections</a:t>
            </a:r>
          </a:p>
          <a:p>
            <a:pPr>
              <a:spcBef>
                <a:spcPct val="50000"/>
              </a:spcBef>
              <a:defRPr/>
            </a:pPr>
            <a:endParaRPr lang="en-US" sz="2400" dirty="0" smtClean="0">
              <a:solidFill>
                <a:srgbClr val="FF0000"/>
              </a:solidFill>
              <a:latin typeface="Arial" charset="0"/>
              <a:cs typeface="Arial" charset="0"/>
            </a:endParaRPr>
          </a:p>
          <a:p>
            <a:pPr>
              <a:spcBef>
                <a:spcPct val="50000"/>
              </a:spcBef>
              <a:defRPr/>
            </a:pPr>
            <a:endParaRPr lang="en-US" sz="2400" dirty="0">
              <a:solidFill>
                <a:srgbClr val="FF0000"/>
              </a:solidFill>
              <a:latin typeface="Arial" charset="0"/>
              <a:cs typeface="Arial" charset="0"/>
            </a:endParaRPr>
          </a:p>
          <a:p>
            <a:pPr>
              <a:spcBef>
                <a:spcPct val="50000"/>
              </a:spcBef>
              <a:defRPr/>
            </a:pPr>
            <a:endParaRPr lang="en-US" sz="2400" dirty="0" smtClean="0">
              <a:solidFill>
                <a:srgbClr val="FF0000"/>
              </a:solidFill>
              <a:latin typeface="Arial" charset="0"/>
              <a:cs typeface="Arial" charset="0"/>
            </a:endParaRPr>
          </a:p>
          <a:p>
            <a:pPr>
              <a:spcBef>
                <a:spcPct val="50000"/>
              </a:spcBef>
              <a:defRPr/>
            </a:pPr>
            <a:endParaRPr lang="en-US" sz="2400" dirty="0">
              <a:solidFill>
                <a:srgbClr val="FF0000"/>
              </a:solidFill>
              <a:latin typeface="Arial" charset="0"/>
              <a:cs typeface="Arial" charset="0"/>
            </a:endParaRPr>
          </a:p>
          <a:p>
            <a:pPr>
              <a:spcBef>
                <a:spcPct val="50000"/>
              </a:spcBef>
              <a:defRPr/>
            </a:pPr>
            <a:endParaRPr lang="en-US" sz="2400" dirty="0">
              <a:solidFill>
                <a:srgbClr val="FF0000"/>
              </a:solidFill>
              <a:latin typeface="Arial" charset="0"/>
              <a:cs typeface="Arial" charset="0"/>
            </a:endParaRPr>
          </a:p>
          <a:p>
            <a:pPr>
              <a:spcBef>
                <a:spcPct val="50000"/>
              </a:spcBef>
              <a:defRPr/>
            </a:pPr>
            <a:endParaRPr lang="en-US" sz="2400" dirty="0" smtClean="0">
              <a:solidFill>
                <a:srgbClr val="FF0000"/>
              </a:solidFill>
              <a:latin typeface="Arial" charset="0"/>
              <a:cs typeface="Arial" charset="0"/>
            </a:endParaRPr>
          </a:p>
          <a:p>
            <a:pPr>
              <a:spcBef>
                <a:spcPct val="50000"/>
              </a:spcBef>
              <a:defRPr/>
            </a:pPr>
            <a:r>
              <a:rPr lang="en-US" sz="2400" dirty="0" smtClean="0">
                <a:solidFill>
                  <a:srgbClr val="FF0000"/>
                </a:solidFill>
                <a:latin typeface="Arial" charset="0"/>
                <a:cs typeface="Arial" charset="0"/>
              </a:rPr>
              <a:t>Complex Voltage</a:t>
            </a:r>
            <a:r>
              <a:rPr lang="en-US" sz="2400" dirty="0" smtClean="0">
                <a:latin typeface="Arial" charset="0"/>
                <a:cs typeface="Arial" charset="0"/>
              </a:rPr>
              <a:t> </a:t>
            </a:r>
            <a:r>
              <a:rPr lang="en-US" sz="2400" dirty="0">
                <a:latin typeface="Arial" charset="0"/>
                <a:cs typeface="Arial" charset="0"/>
              </a:rPr>
              <a:t>at each connection is </a:t>
            </a:r>
            <a:r>
              <a:rPr lang="en-US" sz="2400" dirty="0" smtClean="0">
                <a:latin typeface="Arial" charset="0"/>
                <a:cs typeface="Arial" charset="0"/>
              </a:rPr>
              <a:t> </a:t>
            </a:r>
            <a:endParaRPr lang="en-US" sz="2400" dirty="0">
              <a:latin typeface="Arial" charset="0"/>
              <a:cs typeface="Arial" charset="0"/>
            </a:endParaRPr>
          </a:p>
          <a:p>
            <a:pPr>
              <a:spcBef>
                <a:spcPct val="50000"/>
              </a:spcBef>
              <a:defRPr/>
            </a:pPr>
            <a:r>
              <a:rPr lang="en-US" sz="2400" dirty="0" smtClean="0">
                <a:solidFill>
                  <a:srgbClr val="FF0000"/>
                </a:solidFill>
                <a:latin typeface="Arial" charset="0"/>
                <a:cs typeface="Arial" charset="0"/>
              </a:rPr>
              <a:t>Complex Current </a:t>
            </a:r>
            <a:r>
              <a:rPr lang="en-US" sz="2400" dirty="0">
                <a:solidFill>
                  <a:srgbClr val="0000FF"/>
                </a:solidFill>
                <a:latin typeface="Arial" charset="0"/>
                <a:cs typeface="Arial" charset="0"/>
              </a:rPr>
              <a:t> </a:t>
            </a:r>
            <a:r>
              <a:rPr lang="en-US" sz="2400" dirty="0" smtClean="0">
                <a:solidFill>
                  <a:srgbClr val="0000FF"/>
                </a:solidFill>
                <a:latin typeface="Arial" charset="0"/>
                <a:cs typeface="Arial" charset="0"/>
              </a:rPr>
              <a:t>           </a:t>
            </a:r>
            <a:r>
              <a:rPr lang="en-US" sz="2400" dirty="0" smtClean="0">
                <a:latin typeface="Arial" charset="0"/>
                <a:cs typeface="Arial" charset="0"/>
              </a:rPr>
              <a:t>through </a:t>
            </a:r>
            <a:r>
              <a:rPr lang="en-US" sz="2400" dirty="0">
                <a:latin typeface="Arial" charset="0"/>
                <a:cs typeface="Arial" charset="0"/>
              </a:rPr>
              <a:t>the </a:t>
            </a:r>
            <a:r>
              <a:rPr lang="en-US" sz="2400" dirty="0" smtClean="0">
                <a:latin typeface="Arial" charset="0"/>
                <a:cs typeface="Arial" charset="0"/>
              </a:rPr>
              <a:t>connection </a:t>
            </a:r>
            <a:endParaRPr lang="en-US" sz="2400" dirty="0">
              <a:latin typeface="Arial" charset="0"/>
              <a:cs typeface="Arial" charset="0"/>
            </a:endParaRPr>
          </a:p>
          <a:p>
            <a:pPr>
              <a:spcBef>
                <a:spcPct val="50000"/>
              </a:spcBef>
              <a:defRPr/>
            </a:pPr>
            <a:r>
              <a:rPr lang="en-US" sz="2400" dirty="0">
                <a:latin typeface="Arial" charset="0"/>
                <a:cs typeface="Arial" charset="0"/>
              </a:rPr>
              <a:t>Connections have </a:t>
            </a:r>
            <a:r>
              <a:rPr lang="en-US" sz="2400" dirty="0" smtClean="0">
                <a:solidFill>
                  <a:srgbClr val="FF0000"/>
                </a:solidFill>
                <a:latin typeface="Arial" charset="0"/>
                <a:cs typeface="Arial" charset="0"/>
              </a:rPr>
              <a:t>complex admittance</a:t>
            </a:r>
            <a:endParaRPr lang="en-US" sz="2400" dirty="0">
              <a:latin typeface="Arial" charset="0"/>
              <a:cs typeface="Arial" charset="0"/>
            </a:endParaRPr>
          </a:p>
          <a:p>
            <a:pPr>
              <a:spcBef>
                <a:spcPct val="50000"/>
              </a:spcBef>
              <a:defRPr/>
            </a:pPr>
            <a:r>
              <a:rPr lang="en-US" sz="2400" dirty="0">
                <a:solidFill>
                  <a:srgbClr val="FF0000"/>
                </a:solidFill>
                <a:latin typeface="Arial" charset="0"/>
                <a:cs typeface="Arial" charset="0"/>
              </a:rPr>
              <a:t>Power drain/supply</a:t>
            </a:r>
            <a:r>
              <a:rPr lang="en-US" sz="2400" dirty="0">
                <a:latin typeface="Arial" charset="0"/>
                <a:cs typeface="Arial" charset="0"/>
              </a:rPr>
              <a:t> at </a:t>
            </a:r>
            <a:r>
              <a:rPr lang="en-US" sz="2400" dirty="0" smtClean="0">
                <a:latin typeface="Arial" charset="0"/>
                <a:cs typeface="Arial" charset="0"/>
              </a:rPr>
              <a:t>each node</a:t>
            </a:r>
            <a:endParaRPr lang="en-US" sz="2400" dirty="0">
              <a:latin typeface="Arial" charset="0"/>
              <a:cs typeface="Arial" charset="0"/>
            </a:endParaRPr>
          </a:p>
        </p:txBody>
      </p:sp>
      <p:sp>
        <p:nvSpPr>
          <p:cNvPr id="237573" name="Line 5"/>
          <p:cNvSpPr>
            <a:spLocks noChangeShapeType="1"/>
          </p:cNvSpPr>
          <p:nvPr/>
        </p:nvSpPr>
        <p:spPr bwMode="auto">
          <a:xfrm>
            <a:off x="2590800" y="1969120"/>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237574" name="Line 6"/>
          <p:cNvSpPr>
            <a:spLocks noChangeShapeType="1"/>
          </p:cNvSpPr>
          <p:nvPr/>
        </p:nvSpPr>
        <p:spPr bwMode="auto">
          <a:xfrm>
            <a:off x="6781800" y="1969120"/>
            <a:ext cx="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237575" name="Line 7"/>
          <p:cNvSpPr>
            <a:spLocks noChangeShapeType="1"/>
          </p:cNvSpPr>
          <p:nvPr/>
        </p:nvSpPr>
        <p:spPr bwMode="auto">
          <a:xfrm flipH="1">
            <a:off x="381000" y="2502520"/>
            <a:ext cx="2209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237577" name="Line 9"/>
          <p:cNvSpPr>
            <a:spLocks noChangeShapeType="1"/>
          </p:cNvSpPr>
          <p:nvPr/>
        </p:nvSpPr>
        <p:spPr bwMode="auto">
          <a:xfrm>
            <a:off x="2590800" y="2959720"/>
            <a:ext cx="41910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237580" name="Line 12"/>
          <p:cNvSpPr>
            <a:spLocks noChangeShapeType="1"/>
          </p:cNvSpPr>
          <p:nvPr/>
        </p:nvSpPr>
        <p:spPr bwMode="auto">
          <a:xfrm>
            <a:off x="2590800" y="2197720"/>
            <a:ext cx="838200" cy="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237581" name="Line 13"/>
          <p:cNvSpPr>
            <a:spLocks noChangeShapeType="1"/>
          </p:cNvSpPr>
          <p:nvPr/>
        </p:nvSpPr>
        <p:spPr bwMode="auto">
          <a:xfrm>
            <a:off x="6781800" y="2350120"/>
            <a:ext cx="609600" cy="0"/>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237582" name="Line 14"/>
          <p:cNvSpPr>
            <a:spLocks noChangeShapeType="1"/>
          </p:cNvSpPr>
          <p:nvPr/>
        </p:nvSpPr>
        <p:spPr bwMode="auto">
          <a:xfrm>
            <a:off x="6781800" y="2731120"/>
            <a:ext cx="17526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graphicFrame>
        <p:nvGraphicFramePr>
          <p:cNvPr id="39945" name="Object 15"/>
          <p:cNvGraphicFramePr>
            <a:graphicFrameLocks noChangeAspect="1"/>
          </p:cNvGraphicFramePr>
          <p:nvPr>
            <p:extLst>
              <p:ext uri="{D42A27DB-BD31-4B8C-83A1-F6EECF244321}">
                <p14:modId xmlns:p14="http://schemas.microsoft.com/office/powerpoint/2010/main" val="2946991011"/>
              </p:ext>
            </p:extLst>
          </p:nvPr>
        </p:nvGraphicFramePr>
        <p:xfrm>
          <a:off x="4913278" y="5825478"/>
          <a:ext cx="2254250" cy="538162"/>
        </p:xfrm>
        <a:graphic>
          <a:graphicData uri="http://schemas.openxmlformats.org/presentationml/2006/ole">
            <mc:AlternateContent xmlns:mc="http://schemas.openxmlformats.org/markup-compatibility/2006">
              <mc:Choice xmlns:v="urn:schemas-microsoft-com:vml" Requires="v">
                <p:oleObj spid="_x0000_s25705" name="Equation" r:id="rId4" imgW="850900" imgH="203200" progId="Equation.3">
                  <p:embed/>
                </p:oleObj>
              </mc:Choice>
              <mc:Fallback>
                <p:oleObj name="Equation" r:id="rId4" imgW="850900" imgH="203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3278" y="5825478"/>
                        <a:ext cx="225425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39948" name="Object 19"/>
          <p:cNvGraphicFramePr>
            <a:graphicFrameLocks noChangeAspect="1"/>
          </p:cNvGraphicFramePr>
          <p:nvPr>
            <p:extLst>
              <p:ext uri="{D42A27DB-BD31-4B8C-83A1-F6EECF244321}">
                <p14:modId xmlns:p14="http://schemas.microsoft.com/office/powerpoint/2010/main" val="1530031900"/>
              </p:ext>
            </p:extLst>
          </p:nvPr>
        </p:nvGraphicFramePr>
        <p:xfrm>
          <a:off x="3581400" y="1964358"/>
          <a:ext cx="2254250" cy="538162"/>
        </p:xfrm>
        <a:graphic>
          <a:graphicData uri="http://schemas.openxmlformats.org/presentationml/2006/ole">
            <mc:AlternateContent xmlns:mc="http://schemas.openxmlformats.org/markup-compatibility/2006">
              <mc:Choice xmlns:v="urn:schemas-microsoft-com:vml" Requires="v">
                <p:oleObj spid="_x0000_s25706" name="Equation" r:id="rId6" imgW="850900" imgH="203200" progId="Equation.3">
                  <p:embed/>
                </p:oleObj>
              </mc:Choice>
              <mc:Fallback>
                <p:oleObj name="Equation" r:id="rId6" imgW="850900" imgH="203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1964358"/>
                        <a:ext cx="225425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pic>
        <p:nvPicPr>
          <p:cNvPr id="2" name="Picture 1" descr="latex-image-1.pdf"/>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07279" y="1449525"/>
            <a:ext cx="444500" cy="393700"/>
          </a:xfrm>
          <a:prstGeom prst="rect">
            <a:avLst/>
          </a:prstGeom>
        </p:spPr>
      </p:pic>
      <p:pic>
        <p:nvPicPr>
          <p:cNvPr id="3" name="Picture 2" descr="latex-image-1.pdf"/>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68354" y="1417775"/>
            <a:ext cx="393700" cy="457200"/>
          </a:xfrm>
          <a:prstGeom prst="rect">
            <a:avLst/>
          </a:prstGeom>
        </p:spPr>
      </p:pic>
      <p:pic>
        <p:nvPicPr>
          <p:cNvPr id="4" name="Picture 3" descr="latex-image-1.pdf"/>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32833" y="3173925"/>
            <a:ext cx="635000" cy="457200"/>
          </a:xfrm>
          <a:prstGeom prst="rect">
            <a:avLst/>
          </a:prstGeom>
        </p:spPr>
      </p:pic>
      <p:pic>
        <p:nvPicPr>
          <p:cNvPr id="5" name="Picture 4" descr="latex-image-1.pdf"/>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71001" y="4726270"/>
            <a:ext cx="635000" cy="457200"/>
          </a:xfrm>
          <a:prstGeom prst="rect">
            <a:avLst/>
          </a:prstGeom>
        </p:spPr>
      </p:pic>
      <p:pic>
        <p:nvPicPr>
          <p:cNvPr id="22" name="Picture 21" descr="latex-image-1.pdf"/>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24998" y="4173055"/>
            <a:ext cx="393700" cy="457200"/>
          </a:xfrm>
          <a:prstGeom prst="rect">
            <a:avLst/>
          </a:prstGeom>
        </p:spPr>
      </p:pic>
      <p:pic>
        <p:nvPicPr>
          <p:cNvPr id="6" name="Picture 5" descr="latex-image-1.pdf"/>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708677" y="5369927"/>
            <a:ext cx="685800" cy="330200"/>
          </a:xfrm>
          <a:prstGeom prst="rect">
            <a:avLst/>
          </a:prstGeom>
        </p:spPr>
      </p:pic>
      <p:sp>
        <p:nvSpPr>
          <p:cNvPr id="9" name="Donut 8"/>
          <p:cNvSpPr/>
          <p:nvPr/>
        </p:nvSpPr>
        <p:spPr>
          <a:xfrm>
            <a:off x="2477057" y="2374245"/>
            <a:ext cx="254790" cy="242994"/>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7" name="Donut 26"/>
          <p:cNvSpPr/>
          <p:nvPr/>
        </p:nvSpPr>
        <p:spPr>
          <a:xfrm>
            <a:off x="6658703" y="2605045"/>
            <a:ext cx="254790" cy="242994"/>
          </a:xfrm>
          <a:prstGeom prst="don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30681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940660" y="4217895"/>
            <a:ext cx="6960885" cy="1959989"/>
          </a:xfrm>
          <a:prstGeom prst="round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p:cNvSpPr/>
          <p:nvPr/>
        </p:nvSpPr>
        <p:spPr>
          <a:xfrm>
            <a:off x="1128792" y="1175993"/>
            <a:ext cx="6506232" cy="139551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9122" y="1530530"/>
            <a:ext cx="5718462" cy="705524"/>
          </a:xfrm>
          <a:prstGeom prst="rect">
            <a:avLst/>
          </a:prstGeom>
        </p:spPr>
      </p:pic>
      <p:pic>
        <p:nvPicPr>
          <p:cNvPr id="5" name="Picture 4"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0027" y="4407197"/>
            <a:ext cx="6051187" cy="1484782"/>
          </a:xfrm>
          <a:prstGeom prst="rect">
            <a:avLst/>
          </a:prstGeom>
        </p:spPr>
      </p:pic>
      <p:sp>
        <p:nvSpPr>
          <p:cNvPr id="6" name="TextBox 5"/>
          <p:cNvSpPr txBox="1"/>
          <p:nvPr/>
        </p:nvSpPr>
        <p:spPr>
          <a:xfrm>
            <a:off x="1599122" y="329278"/>
            <a:ext cx="4985499" cy="461665"/>
          </a:xfrm>
          <a:prstGeom prst="rect">
            <a:avLst/>
          </a:prstGeom>
          <a:noFill/>
        </p:spPr>
        <p:txBody>
          <a:bodyPr wrap="square" rtlCol="0">
            <a:spAutoFit/>
          </a:bodyPr>
          <a:lstStyle/>
          <a:p>
            <a:r>
              <a:rPr lang="en-US" sz="2400" dirty="0" smtClean="0">
                <a:solidFill>
                  <a:srgbClr val="3366FF"/>
                </a:solidFill>
              </a:rPr>
              <a:t>Ohm’s law</a:t>
            </a:r>
            <a:endParaRPr lang="en-US" sz="2400" dirty="0">
              <a:solidFill>
                <a:srgbClr val="3366FF"/>
              </a:solidFill>
            </a:endParaRPr>
          </a:p>
        </p:txBody>
      </p:sp>
      <p:sp>
        <p:nvSpPr>
          <p:cNvPr id="8" name="TextBox 7"/>
          <p:cNvSpPr txBox="1"/>
          <p:nvPr/>
        </p:nvSpPr>
        <p:spPr>
          <a:xfrm>
            <a:off x="1128792" y="3151662"/>
            <a:ext cx="6188792" cy="461665"/>
          </a:xfrm>
          <a:prstGeom prst="rect">
            <a:avLst/>
          </a:prstGeom>
          <a:noFill/>
        </p:spPr>
        <p:txBody>
          <a:bodyPr wrap="square" rtlCol="0">
            <a:spAutoFit/>
          </a:bodyPr>
          <a:lstStyle/>
          <a:p>
            <a:r>
              <a:rPr lang="en-US" sz="2400" dirty="0" smtClean="0">
                <a:solidFill>
                  <a:srgbClr val="FF0000"/>
                </a:solidFill>
              </a:rPr>
              <a:t>Power at each node</a:t>
            </a:r>
            <a:endParaRPr lang="en-US" sz="2400" dirty="0">
              <a:solidFill>
                <a:srgbClr val="FF0000"/>
              </a:solidFill>
            </a:endParaRPr>
          </a:p>
        </p:txBody>
      </p:sp>
    </p:spTree>
    <p:extLst>
      <p:ext uri="{BB962C8B-B14F-4D97-AF65-F5344CB8AC3E}">
        <p14:creationId xmlns:p14="http://schemas.microsoft.com/office/powerpoint/2010/main" val="2890193172"/>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4" name="AutoShape 4"/>
          <p:cNvSpPr>
            <a:spLocks noChangeArrowheads="1"/>
          </p:cNvSpPr>
          <p:nvPr/>
        </p:nvSpPr>
        <p:spPr bwMode="auto">
          <a:xfrm>
            <a:off x="2590800" y="5210480"/>
            <a:ext cx="3810000" cy="1143000"/>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Arial" charset="0"/>
            </a:endParaRPr>
          </a:p>
        </p:txBody>
      </p:sp>
      <p:sp>
        <p:nvSpPr>
          <p:cNvPr id="44034" name="Title 1"/>
          <p:cNvSpPr>
            <a:spLocks noGrp="1"/>
          </p:cNvSpPr>
          <p:nvPr>
            <p:ph type="title" idx="4294967295"/>
          </p:nvPr>
        </p:nvSpPr>
        <p:spPr>
          <a:xfrm>
            <a:off x="457200" y="76200"/>
            <a:ext cx="8229600" cy="1143000"/>
          </a:xfrm>
        </p:spPr>
        <p:txBody>
          <a:bodyPr/>
          <a:lstStyle/>
          <a:p>
            <a:r>
              <a:rPr lang="nl-NL" sz="2800" dirty="0" err="1" smtClean="0">
                <a:solidFill>
                  <a:srgbClr val="FF0000"/>
                </a:solidFill>
                <a:latin typeface="Arial" charset="0"/>
              </a:rPr>
              <a:t>Combined</a:t>
            </a:r>
            <a:r>
              <a:rPr lang="nl-NL" sz="2800" dirty="0" smtClean="0">
                <a:solidFill>
                  <a:srgbClr val="FF0000"/>
                </a:solidFill>
                <a:latin typeface="Arial" charset="0"/>
              </a:rPr>
              <a:t> system </a:t>
            </a:r>
            <a:r>
              <a:rPr lang="nl-NL" sz="2800" dirty="0">
                <a:solidFill>
                  <a:srgbClr val="FF0000"/>
                </a:solidFill>
                <a:latin typeface="Arial" charset="0"/>
              </a:rPr>
              <a:t>of </a:t>
            </a:r>
            <a:r>
              <a:rPr lang="nl-NL" sz="2800" dirty="0" err="1">
                <a:solidFill>
                  <a:srgbClr val="FF0000"/>
                </a:solidFill>
                <a:latin typeface="Arial" charset="0"/>
              </a:rPr>
              <a:t>equations</a:t>
            </a:r>
            <a:endParaRPr lang="en-US" dirty="0">
              <a:latin typeface="Arial" charset="0"/>
            </a:endParaRPr>
          </a:p>
        </p:txBody>
      </p:sp>
      <p:sp>
        <p:nvSpPr>
          <p:cNvPr id="44035" name="Content Placeholder 2"/>
          <p:cNvSpPr>
            <a:spLocks noGrp="1"/>
          </p:cNvSpPr>
          <p:nvPr>
            <p:ph idx="4294967295"/>
          </p:nvPr>
        </p:nvSpPr>
        <p:spPr>
          <a:xfrm>
            <a:off x="428625" y="1136400"/>
            <a:ext cx="8229600" cy="4525963"/>
          </a:xfrm>
        </p:spPr>
        <p:txBody>
          <a:bodyPr>
            <a:normAutofit/>
          </a:bodyPr>
          <a:lstStyle/>
          <a:p>
            <a:pPr>
              <a:buFontTx/>
              <a:buNone/>
            </a:pPr>
            <a:r>
              <a:rPr lang="nl-NL" sz="2800" dirty="0">
                <a:latin typeface="Arial" charset="0"/>
              </a:rPr>
              <a:t>N: 	</a:t>
            </a:r>
            <a:r>
              <a:rPr lang="nl-NL" sz="2800" dirty="0" err="1">
                <a:solidFill>
                  <a:srgbClr val="0000FF"/>
                </a:solidFill>
                <a:latin typeface="Arial" charset="0"/>
              </a:rPr>
              <a:t>number</a:t>
            </a:r>
            <a:r>
              <a:rPr lang="nl-NL" sz="2800" dirty="0">
                <a:solidFill>
                  <a:srgbClr val="0000FF"/>
                </a:solidFill>
                <a:latin typeface="Arial" charset="0"/>
              </a:rPr>
              <a:t> of </a:t>
            </a:r>
            <a:r>
              <a:rPr lang="nl-NL" sz="2800" dirty="0" err="1">
                <a:solidFill>
                  <a:srgbClr val="0000FF"/>
                </a:solidFill>
                <a:latin typeface="Arial" charset="0"/>
              </a:rPr>
              <a:t>nodes</a:t>
            </a:r>
            <a:endParaRPr lang="nl-NL" sz="2800" dirty="0">
              <a:solidFill>
                <a:srgbClr val="0000FF"/>
              </a:solidFill>
              <a:latin typeface="Arial" charset="0"/>
            </a:endParaRPr>
          </a:p>
          <a:p>
            <a:pPr>
              <a:buFontTx/>
              <a:buNone/>
            </a:pPr>
            <a:r>
              <a:rPr lang="nl-NL" sz="2800" dirty="0">
                <a:latin typeface="Arial" charset="0"/>
              </a:rPr>
              <a:t>S: 	</a:t>
            </a:r>
            <a:r>
              <a:rPr lang="nl-NL" sz="2800" dirty="0">
                <a:solidFill>
                  <a:srgbClr val="0000FF"/>
                </a:solidFill>
                <a:latin typeface="Arial" charset="0"/>
              </a:rPr>
              <a:t>complex </a:t>
            </a:r>
            <a:r>
              <a:rPr lang="nl-NL" sz="2800" dirty="0" err="1">
                <a:solidFill>
                  <a:srgbClr val="0000FF"/>
                </a:solidFill>
                <a:latin typeface="Arial" charset="0"/>
              </a:rPr>
              <a:t>nodal</a:t>
            </a:r>
            <a:r>
              <a:rPr lang="nl-NL" sz="2800" dirty="0">
                <a:solidFill>
                  <a:srgbClr val="0000FF"/>
                </a:solidFill>
                <a:latin typeface="Arial" charset="0"/>
              </a:rPr>
              <a:t> </a:t>
            </a:r>
            <a:r>
              <a:rPr lang="nl-NL" sz="2800" dirty="0" err="1">
                <a:solidFill>
                  <a:srgbClr val="0000FF"/>
                </a:solidFill>
                <a:latin typeface="Arial" charset="0"/>
              </a:rPr>
              <a:t>demand</a:t>
            </a:r>
            <a:r>
              <a:rPr lang="nl-NL" sz="2800" dirty="0">
                <a:solidFill>
                  <a:srgbClr val="0000FF"/>
                </a:solidFill>
                <a:latin typeface="Arial" charset="0"/>
              </a:rPr>
              <a:t> vector</a:t>
            </a:r>
            <a:r>
              <a:rPr lang="nl-NL" sz="2800" dirty="0">
                <a:latin typeface="Arial" charset="0"/>
              </a:rPr>
              <a:t> 	(Nx1)</a:t>
            </a:r>
          </a:p>
          <a:p>
            <a:pPr>
              <a:buFontTx/>
              <a:buNone/>
            </a:pPr>
            <a:r>
              <a:rPr lang="nl-NL" sz="2800" dirty="0">
                <a:latin typeface="Arial" charset="0"/>
              </a:rPr>
              <a:t>V: 	</a:t>
            </a:r>
            <a:r>
              <a:rPr lang="nl-NL" sz="2800" dirty="0">
                <a:solidFill>
                  <a:srgbClr val="0000FF"/>
                </a:solidFill>
                <a:latin typeface="Arial" charset="0"/>
              </a:rPr>
              <a:t>complex </a:t>
            </a:r>
            <a:r>
              <a:rPr lang="nl-NL" sz="2800" dirty="0" err="1">
                <a:solidFill>
                  <a:srgbClr val="0000FF"/>
                </a:solidFill>
                <a:latin typeface="Arial" charset="0"/>
              </a:rPr>
              <a:t>nodal</a:t>
            </a:r>
            <a:r>
              <a:rPr lang="nl-NL" sz="2800" dirty="0">
                <a:solidFill>
                  <a:srgbClr val="0000FF"/>
                </a:solidFill>
                <a:latin typeface="Arial" charset="0"/>
              </a:rPr>
              <a:t> voltage vector</a:t>
            </a:r>
            <a:r>
              <a:rPr lang="nl-NL" sz="2800" dirty="0">
                <a:latin typeface="Arial" charset="0"/>
              </a:rPr>
              <a:t> 	(Nx1)</a:t>
            </a:r>
          </a:p>
          <a:p>
            <a:pPr>
              <a:buFontTx/>
              <a:buNone/>
            </a:pPr>
            <a:r>
              <a:rPr lang="nl-NL" sz="2800" dirty="0">
                <a:latin typeface="Arial" charset="0"/>
              </a:rPr>
              <a:t> </a:t>
            </a:r>
            <a:r>
              <a:rPr lang="nl-NL" sz="2800" dirty="0" smtClean="0">
                <a:latin typeface="Arial" charset="0"/>
              </a:rPr>
              <a:t>   : </a:t>
            </a:r>
            <a:r>
              <a:rPr lang="nl-NL" sz="2800" dirty="0">
                <a:latin typeface="Arial" charset="0"/>
              </a:rPr>
              <a:t>	</a:t>
            </a:r>
            <a:r>
              <a:rPr lang="nl-NL" sz="2800" dirty="0">
                <a:solidFill>
                  <a:srgbClr val="0000FF"/>
                </a:solidFill>
                <a:latin typeface="Arial" charset="0"/>
              </a:rPr>
              <a:t>complex </a:t>
            </a:r>
            <a:r>
              <a:rPr lang="nl-NL" sz="2800" dirty="0" err="1">
                <a:solidFill>
                  <a:srgbClr val="0000FF"/>
                </a:solidFill>
                <a:latin typeface="Arial" charset="0"/>
              </a:rPr>
              <a:t>nodal</a:t>
            </a:r>
            <a:r>
              <a:rPr lang="nl-NL" sz="2800" dirty="0">
                <a:solidFill>
                  <a:srgbClr val="0000FF"/>
                </a:solidFill>
                <a:latin typeface="Arial" charset="0"/>
              </a:rPr>
              <a:t> </a:t>
            </a:r>
            <a:r>
              <a:rPr lang="nl-NL" sz="2800" dirty="0" err="1">
                <a:solidFill>
                  <a:srgbClr val="0000FF"/>
                </a:solidFill>
                <a:latin typeface="Arial" charset="0"/>
              </a:rPr>
              <a:t>admittance</a:t>
            </a:r>
            <a:r>
              <a:rPr lang="nl-NL" sz="2800" dirty="0">
                <a:solidFill>
                  <a:srgbClr val="0000FF"/>
                </a:solidFill>
                <a:latin typeface="Arial" charset="0"/>
              </a:rPr>
              <a:t> matrix</a:t>
            </a:r>
            <a:r>
              <a:rPr lang="nl-NL" sz="2800" dirty="0">
                <a:latin typeface="Arial" charset="0"/>
              </a:rPr>
              <a:t> 	(</a:t>
            </a:r>
            <a:r>
              <a:rPr lang="nl-NL" sz="2800" dirty="0" err="1">
                <a:latin typeface="Arial" charset="0"/>
              </a:rPr>
              <a:t>NxN</a:t>
            </a:r>
            <a:r>
              <a:rPr lang="nl-NL" sz="2800" dirty="0">
                <a:latin typeface="Arial" charset="0"/>
              </a:rPr>
              <a:t>)</a:t>
            </a:r>
          </a:p>
          <a:p>
            <a:pPr>
              <a:buFontTx/>
              <a:buNone/>
            </a:pPr>
            <a:endParaRPr lang="nl-NL" sz="3000" dirty="0">
              <a:latin typeface="Arial" charset="0"/>
            </a:endParaRPr>
          </a:p>
          <a:p>
            <a:pPr>
              <a:buFontTx/>
              <a:buNone/>
            </a:pPr>
            <a:r>
              <a:rPr lang="nl-NL" sz="3000" dirty="0" err="1">
                <a:latin typeface="Arial" charset="0"/>
              </a:rPr>
              <a:t>Then</a:t>
            </a:r>
            <a:r>
              <a:rPr lang="nl-NL" sz="3000" dirty="0">
                <a:latin typeface="Arial" charset="0"/>
              </a:rPr>
              <a:t> we </a:t>
            </a:r>
            <a:r>
              <a:rPr lang="nl-NL" sz="3000" dirty="0" err="1" smtClean="0">
                <a:latin typeface="Arial" charset="0"/>
              </a:rPr>
              <a:t>solve</a:t>
            </a:r>
            <a:r>
              <a:rPr lang="nl-NL" sz="3000" dirty="0" smtClean="0">
                <a:latin typeface="Arial" charset="0"/>
              </a:rPr>
              <a:t> the </a:t>
            </a:r>
            <a:r>
              <a:rPr lang="nl-NL" sz="3000" dirty="0" err="1" smtClean="0">
                <a:latin typeface="Arial" charset="0"/>
              </a:rPr>
              <a:t>following</a:t>
            </a:r>
            <a:r>
              <a:rPr lang="nl-NL" sz="3000" dirty="0" smtClean="0">
                <a:latin typeface="Arial" charset="0"/>
              </a:rPr>
              <a:t> </a:t>
            </a:r>
            <a:r>
              <a:rPr lang="nl-NL" sz="3000" dirty="0" err="1" smtClean="0">
                <a:solidFill>
                  <a:srgbClr val="FF0000"/>
                </a:solidFill>
                <a:latin typeface="Arial" charset="0"/>
              </a:rPr>
              <a:t>quadratic</a:t>
            </a:r>
            <a:r>
              <a:rPr lang="nl-NL" sz="3000" dirty="0" smtClean="0">
                <a:solidFill>
                  <a:srgbClr val="FF0000"/>
                </a:solidFill>
                <a:latin typeface="Arial" charset="0"/>
              </a:rPr>
              <a:t> </a:t>
            </a:r>
            <a:r>
              <a:rPr lang="nl-NL" sz="3000" dirty="0" err="1" smtClean="0">
                <a:solidFill>
                  <a:srgbClr val="FF0000"/>
                </a:solidFill>
                <a:latin typeface="Arial" charset="0"/>
              </a:rPr>
              <a:t>equation</a:t>
            </a:r>
            <a:r>
              <a:rPr lang="nl-NL" sz="3000" dirty="0">
                <a:solidFill>
                  <a:srgbClr val="FF0000"/>
                </a:solidFill>
                <a:latin typeface="Arial" charset="0"/>
              </a:rPr>
              <a:t> </a:t>
            </a:r>
            <a:r>
              <a:rPr lang="nl-NL" sz="3000" dirty="0" smtClean="0">
                <a:solidFill>
                  <a:srgbClr val="FF0000"/>
                </a:solidFill>
                <a:latin typeface="Arial" charset="0"/>
              </a:rPr>
              <a:t>system </a:t>
            </a:r>
            <a:r>
              <a:rPr lang="nl-NL" sz="3000" dirty="0" err="1" smtClean="0">
                <a:solidFill>
                  <a:srgbClr val="FF0000"/>
                </a:solidFill>
                <a:latin typeface="Arial" charset="0"/>
              </a:rPr>
              <a:t>to</a:t>
            </a:r>
            <a:r>
              <a:rPr lang="nl-NL" sz="3000" dirty="0" smtClean="0">
                <a:solidFill>
                  <a:srgbClr val="FF0000"/>
                </a:solidFill>
                <a:latin typeface="Arial" charset="0"/>
              </a:rPr>
              <a:t> </a:t>
            </a:r>
            <a:r>
              <a:rPr lang="nl-NL" sz="3000" dirty="0" err="1" smtClean="0">
                <a:solidFill>
                  <a:srgbClr val="FF0000"/>
                </a:solidFill>
                <a:latin typeface="Arial" charset="0"/>
              </a:rPr>
              <a:t>find</a:t>
            </a:r>
            <a:r>
              <a:rPr lang="nl-NL" sz="3000" dirty="0" smtClean="0">
                <a:solidFill>
                  <a:srgbClr val="FF0000"/>
                </a:solidFill>
                <a:latin typeface="Arial" charset="0"/>
              </a:rPr>
              <a:t> V</a:t>
            </a:r>
            <a:endParaRPr lang="nl-NL" sz="3000" dirty="0">
              <a:solidFill>
                <a:srgbClr val="FF0000"/>
              </a:solidFill>
              <a:latin typeface="Arial" charset="0"/>
            </a:endParaRPr>
          </a:p>
          <a:p>
            <a:pPr>
              <a:buFontTx/>
              <a:buNone/>
            </a:pPr>
            <a:endParaRPr lang="nl-NL" sz="3000" dirty="0">
              <a:latin typeface="Arial" charset="0"/>
            </a:endParaRPr>
          </a:p>
          <a:p>
            <a:pPr>
              <a:buFontTx/>
              <a:buNone/>
            </a:pPr>
            <a:endParaRPr lang="nl-NL" sz="3000" dirty="0" smtClean="0">
              <a:latin typeface="Arial" charset="0"/>
            </a:endParaRPr>
          </a:p>
        </p:txBody>
      </p:sp>
      <p:pic>
        <p:nvPicPr>
          <p:cNvPr id="2" name="Picture 1"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0374" y="5519578"/>
            <a:ext cx="3149600" cy="469900"/>
          </a:xfrm>
          <a:prstGeom prst="rect">
            <a:avLst/>
          </a:prstGeom>
        </p:spPr>
      </p:pic>
      <p:pic>
        <p:nvPicPr>
          <p:cNvPr id="3" name="Picture 2"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140" y="2861903"/>
            <a:ext cx="254000" cy="203200"/>
          </a:xfrm>
          <a:prstGeom prst="rect">
            <a:avLst/>
          </a:prstGeom>
        </p:spPr>
      </p:pic>
      <p:sp>
        <p:nvSpPr>
          <p:cNvPr id="4" name="TextBox 3"/>
          <p:cNvSpPr txBox="1"/>
          <p:nvPr/>
        </p:nvSpPr>
        <p:spPr>
          <a:xfrm>
            <a:off x="-391942" y="6648281"/>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8314850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extBox 1"/>
          <p:cNvSpPr txBox="1">
            <a:spLocks noChangeArrowheads="1"/>
          </p:cNvSpPr>
          <p:nvPr/>
        </p:nvSpPr>
        <p:spPr bwMode="auto">
          <a:xfrm>
            <a:off x="1042988" y="692150"/>
            <a:ext cx="68421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baseline="30000">
                <a:solidFill>
                  <a:schemeClr val="tx1"/>
                </a:solidFill>
                <a:latin typeface="Arial" charset="0"/>
                <a:ea typeface="ＭＳ Ｐゴシック" charset="0"/>
                <a:cs typeface="ＭＳ Ｐゴシック" charset="0"/>
              </a:defRPr>
            </a:lvl1pPr>
            <a:lvl2pPr marL="742950" indent="-285750">
              <a:defRPr sz="2400" b="1" baseline="30000">
                <a:solidFill>
                  <a:schemeClr val="tx1"/>
                </a:solidFill>
                <a:latin typeface="Arial" charset="0"/>
                <a:ea typeface="ＭＳ Ｐゴシック" charset="0"/>
              </a:defRPr>
            </a:lvl2pPr>
            <a:lvl3pPr marL="1143000" indent="-228600">
              <a:defRPr sz="2400" b="1" baseline="30000">
                <a:solidFill>
                  <a:schemeClr val="tx1"/>
                </a:solidFill>
                <a:latin typeface="Arial" charset="0"/>
                <a:ea typeface="ＭＳ Ｐゴシック" charset="0"/>
              </a:defRPr>
            </a:lvl3pPr>
            <a:lvl4pPr marL="1600200" indent="-228600">
              <a:defRPr sz="2400" b="1" baseline="30000">
                <a:solidFill>
                  <a:schemeClr val="tx1"/>
                </a:solidFill>
                <a:latin typeface="Arial" charset="0"/>
                <a:ea typeface="ＭＳ Ｐゴシック" charset="0"/>
              </a:defRPr>
            </a:lvl4pPr>
            <a:lvl5pPr marL="2057400" indent="-228600">
              <a:defRPr sz="2400" b="1" baseline="30000">
                <a:solidFill>
                  <a:schemeClr val="tx1"/>
                </a:solidFill>
                <a:latin typeface="Arial" charset="0"/>
                <a:ea typeface="ＭＳ Ｐゴシック" charset="0"/>
              </a:defRPr>
            </a:lvl5pPr>
            <a:lvl6pPr marL="2514600" indent="-228600" eaLnBrk="0" fontAlgn="base" hangingPunct="0">
              <a:spcBef>
                <a:spcPct val="0"/>
              </a:spcBef>
              <a:spcAft>
                <a:spcPct val="0"/>
              </a:spcAft>
              <a:defRPr sz="2400" b="1" baseline="30000">
                <a:solidFill>
                  <a:schemeClr val="tx1"/>
                </a:solidFill>
                <a:latin typeface="Arial" charset="0"/>
                <a:ea typeface="ＭＳ Ｐゴシック" charset="0"/>
              </a:defRPr>
            </a:lvl6pPr>
            <a:lvl7pPr marL="2971800" indent="-228600" eaLnBrk="0" fontAlgn="base" hangingPunct="0">
              <a:spcBef>
                <a:spcPct val="0"/>
              </a:spcBef>
              <a:spcAft>
                <a:spcPct val="0"/>
              </a:spcAft>
              <a:defRPr sz="2400" b="1" baseline="30000">
                <a:solidFill>
                  <a:schemeClr val="tx1"/>
                </a:solidFill>
                <a:latin typeface="Arial" charset="0"/>
                <a:ea typeface="ＭＳ Ｐゴシック" charset="0"/>
              </a:defRPr>
            </a:lvl7pPr>
            <a:lvl8pPr marL="3429000" indent="-228600" eaLnBrk="0" fontAlgn="base" hangingPunct="0">
              <a:spcBef>
                <a:spcPct val="0"/>
              </a:spcBef>
              <a:spcAft>
                <a:spcPct val="0"/>
              </a:spcAft>
              <a:defRPr sz="2400" b="1" baseline="30000">
                <a:solidFill>
                  <a:schemeClr val="tx1"/>
                </a:solidFill>
                <a:latin typeface="Arial" charset="0"/>
                <a:ea typeface="ＭＳ Ｐゴシック" charset="0"/>
              </a:defRPr>
            </a:lvl8pPr>
            <a:lvl9pPr marL="3886200" indent="-228600" eaLnBrk="0" fontAlgn="base" hangingPunct="0">
              <a:spcBef>
                <a:spcPct val="0"/>
              </a:spcBef>
              <a:spcAft>
                <a:spcPct val="0"/>
              </a:spcAft>
              <a:defRPr sz="2400" b="1" baseline="30000">
                <a:solidFill>
                  <a:schemeClr val="tx1"/>
                </a:solidFill>
                <a:latin typeface="Arial" charset="0"/>
                <a:ea typeface="ＭＳ Ｐゴシック" charset="0"/>
              </a:defRPr>
            </a:lvl9pPr>
          </a:lstStyle>
          <a:p>
            <a:r>
              <a:rPr lang="en-US" b="0" baseline="0" dirty="0">
                <a:latin typeface="Verdana" charset="0"/>
                <a:cs typeface="Verdana" charset="0"/>
              </a:rPr>
              <a:t>Electricity supply is all about solving </a:t>
            </a:r>
            <a:r>
              <a:rPr lang="en-US" b="0" baseline="0" dirty="0">
                <a:solidFill>
                  <a:srgbClr val="FF0000"/>
                </a:solidFill>
                <a:latin typeface="Verdana" charset="0"/>
                <a:cs typeface="Verdana" charset="0"/>
              </a:rPr>
              <a:t>networks</a:t>
            </a:r>
            <a:r>
              <a:rPr lang="en-US" b="0" baseline="0" dirty="0">
                <a:latin typeface="Verdana" charset="0"/>
                <a:cs typeface="Verdana" charset="0"/>
              </a:rPr>
              <a:t> of coupled </a:t>
            </a:r>
            <a:r>
              <a:rPr lang="en-US" b="0" baseline="0" dirty="0">
                <a:solidFill>
                  <a:srgbClr val="E83CFF"/>
                </a:solidFill>
                <a:latin typeface="Verdana" charset="0"/>
                <a:cs typeface="Verdana" charset="0"/>
              </a:rPr>
              <a:t>quadratic equations</a:t>
            </a:r>
            <a:r>
              <a:rPr lang="en-US" b="0" baseline="0" dirty="0">
                <a:latin typeface="Verdana" charset="0"/>
                <a:cs typeface="Verdana" charset="0"/>
              </a:rPr>
              <a:t>!</a:t>
            </a:r>
          </a:p>
        </p:txBody>
      </p:sp>
      <p:pic>
        <p:nvPicPr>
          <p:cNvPr id="69634" name="Picture 2" descr="Quadratic.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060575"/>
            <a:ext cx="58420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6887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830911" y="3684784"/>
            <a:ext cx="5910481" cy="2399026"/>
          </a:xfrm>
          <a:prstGeom prst="round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ounded Rectangle 4"/>
          <p:cNvSpPr/>
          <p:nvPr/>
        </p:nvSpPr>
        <p:spPr>
          <a:xfrm>
            <a:off x="1552089" y="1160315"/>
            <a:ext cx="4355273" cy="92511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439" y="1361423"/>
            <a:ext cx="3276600" cy="444500"/>
          </a:xfrm>
          <a:prstGeom prst="rect">
            <a:avLst/>
          </a:prstGeom>
        </p:spPr>
      </p:pic>
      <p:pic>
        <p:nvPicPr>
          <p:cNvPr id="4" name="Picture 3"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2236" y="4362107"/>
            <a:ext cx="4038600" cy="1028700"/>
          </a:xfrm>
          <a:prstGeom prst="rect">
            <a:avLst/>
          </a:prstGeom>
        </p:spPr>
      </p:pic>
      <p:sp>
        <p:nvSpPr>
          <p:cNvPr id="7" name="TextBox 6"/>
          <p:cNvSpPr txBox="1"/>
          <p:nvPr/>
        </p:nvSpPr>
        <p:spPr>
          <a:xfrm>
            <a:off x="1222858" y="250879"/>
            <a:ext cx="6804108" cy="461665"/>
          </a:xfrm>
          <a:prstGeom prst="rect">
            <a:avLst/>
          </a:prstGeom>
          <a:noFill/>
        </p:spPr>
        <p:txBody>
          <a:bodyPr wrap="square" rtlCol="0">
            <a:spAutoFit/>
          </a:bodyPr>
          <a:lstStyle/>
          <a:p>
            <a:r>
              <a:rPr lang="en-US" sz="2400" dirty="0" smtClean="0">
                <a:solidFill>
                  <a:srgbClr val="FF0000"/>
                </a:solidFill>
              </a:rPr>
              <a:t>        Simplest quadratic equation</a:t>
            </a:r>
            <a:endParaRPr lang="en-US" sz="2400" dirty="0">
              <a:solidFill>
                <a:srgbClr val="FF0000"/>
              </a:solidFill>
            </a:endParaRPr>
          </a:p>
        </p:txBody>
      </p:sp>
      <p:sp>
        <p:nvSpPr>
          <p:cNvPr id="8" name="TextBox 7"/>
          <p:cNvSpPr txBox="1"/>
          <p:nvPr/>
        </p:nvSpPr>
        <p:spPr>
          <a:xfrm>
            <a:off x="877949" y="2681265"/>
            <a:ext cx="6757075" cy="461665"/>
          </a:xfrm>
          <a:prstGeom prst="rect">
            <a:avLst/>
          </a:prstGeom>
          <a:noFill/>
        </p:spPr>
        <p:txBody>
          <a:bodyPr wrap="square" rtlCol="0">
            <a:spAutoFit/>
          </a:bodyPr>
          <a:lstStyle/>
          <a:p>
            <a:r>
              <a:rPr lang="en-US" sz="2400" dirty="0" smtClean="0">
                <a:solidFill>
                  <a:srgbClr val="0000FF"/>
                </a:solidFill>
              </a:rPr>
              <a:t>                             Solutions</a:t>
            </a:r>
            <a:endParaRPr lang="en-US" sz="2400" dirty="0">
              <a:solidFill>
                <a:srgbClr val="0000FF"/>
              </a:solidFill>
            </a:endParaRPr>
          </a:p>
        </p:txBody>
      </p:sp>
      <p:pic>
        <p:nvPicPr>
          <p:cNvPr id="9" name="Picture 8"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2401" y="4707591"/>
            <a:ext cx="1663700" cy="431800"/>
          </a:xfrm>
          <a:prstGeom prst="rect">
            <a:avLst/>
          </a:prstGeom>
        </p:spPr>
      </p:pic>
    </p:spTree>
    <p:extLst>
      <p:ext uri="{BB962C8B-B14F-4D97-AF65-F5344CB8AC3E}">
        <p14:creationId xmlns:p14="http://schemas.microsoft.com/office/powerpoint/2010/main" val="332982334"/>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2022419" y="1050554"/>
            <a:ext cx="4091872" cy="11289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Picture 1"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6111" y="1267341"/>
            <a:ext cx="3086100" cy="444500"/>
          </a:xfrm>
          <a:prstGeom prst="rect">
            <a:avLst/>
          </a:prstGeom>
        </p:spPr>
      </p:pic>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0079" y="3794795"/>
            <a:ext cx="3009900" cy="469900"/>
          </a:xfrm>
          <a:prstGeom prst="rect">
            <a:avLst/>
          </a:prstGeom>
        </p:spPr>
      </p:pic>
      <p:pic>
        <p:nvPicPr>
          <p:cNvPr id="4" name="Picture 3"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7973" y="3921015"/>
            <a:ext cx="990600" cy="342900"/>
          </a:xfrm>
          <a:prstGeom prst="rect">
            <a:avLst/>
          </a:prstGeom>
        </p:spPr>
      </p:pic>
      <p:pic>
        <p:nvPicPr>
          <p:cNvPr id="5" name="Picture 4"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5049" y="5347886"/>
            <a:ext cx="990600" cy="342900"/>
          </a:xfrm>
          <a:prstGeom prst="rect">
            <a:avLst/>
          </a:prstGeom>
        </p:spPr>
      </p:pic>
      <p:sp>
        <p:nvSpPr>
          <p:cNvPr id="6" name="TextBox 5"/>
          <p:cNvSpPr txBox="1"/>
          <p:nvPr/>
        </p:nvSpPr>
        <p:spPr>
          <a:xfrm>
            <a:off x="1410998" y="5346859"/>
            <a:ext cx="4029161" cy="461665"/>
          </a:xfrm>
          <a:prstGeom prst="rect">
            <a:avLst/>
          </a:prstGeom>
          <a:noFill/>
        </p:spPr>
        <p:txBody>
          <a:bodyPr wrap="square" rtlCol="0">
            <a:spAutoFit/>
          </a:bodyPr>
          <a:lstStyle/>
          <a:p>
            <a:r>
              <a:rPr lang="en-US" sz="2400" dirty="0" smtClean="0">
                <a:solidFill>
                  <a:srgbClr val="FF0000"/>
                </a:solidFill>
              </a:rPr>
              <a:t>No solution if </a:t>
            </a:r>
            <a:endParaRPr lang="en-US" sz="2400" dirty="0">
              <a:solidFill>
                <a:srgbClr val="FF0000"/>
              </a:solidFill>
            </a:endParaRPr>
          </a:p>
        </p:txBody>
      </p:sp>
      <p:sp>
        <p:nvSpPr>
          <p:cNvPr id="8" name="TextBox 7"/>
          <p:cNvSpPr txBox="1"/>
          <p:nvPr/>
        </p:nvSpPr>
        <p:spPr>
          <a:xfrm>
            <a:off x="1363957" y="250879"/>
            <a:ext cx="6004547" cy="461665"/>
          </a:xfrm>
          <a:prstGeom prst="rect">
            <a:avLst/>
          </a:prstGeom>
          <a:noFill/>
        </p:spPr>
        <p:txBody>
          <a:bodyPr wrap="square" rtlCol="0">
            <a:spAutoFit/>
          </a:bodyPr>
          <a:lstStyle/>
          <a:p>
            <a:r>
              <a:rPr lang="en-US" sz="2400" dirty="0" smtClean="0">
                <a:solidFill>
                  <a:srgbClr val="FF0000"/>
                </a:solidFill>
              </a:rPr>
              <a:t>               Particular example</a:t>
            </a:r>
            <a:endParaRPr lang="en-US" sz="2400" dirty="0">
              <a:solidFill>
                <a:srgbClr val="FF0000"/>
              </a:solidFill>
            </a:endParaRPr>
          </a:p>
        </p:txBody>
      </p:sp>
      <p:sp>
        <p:nvSpPr>
          <p:cNvPr id="9" name="TextBox 8"/>
          <p:cNvSpPr txBox="1"/>
          <p:nvPr/>
        </p:nvSpPr>
        <p:spPr>
          <a:xfrm>
            <a:off x="2022419" y="2806704"/>
            <a:ext cx="4593557" cy="461665"/>
          </a:xfrm>
          <a:prstGeom prst="rect">
            <a:avLst/>
          </a:prstGeom>
          <a:noFill/>
        </p:spPr>
        <p:txBody>
          <a:bodyPr wrap="square" rtlCol="0">
            <a:spAutoFit/>
          </a:bodyPr>
          <a:lstStyle/>
          <a:p>
            <a:r>
              <a:rPr lang="en-US" sz="2400" dirty="0" smtClean="0">
                <a:solidFill>
                  <a:srgbClr val="0000FF"/>
                </a:solidFill>
              </a:rPr>
              <a:t>               Solutions</a:t>
            </a:r>
            <a:endParaRPr lang="en-US" sz="2400" dirty="0">
              <a:solidFill>
                <a:srgbClr val="0000FF"/>
              </a:solidFill>
            </a:endParaRPr>
          </a:p>
        </p:txBody>
      </p:sp>
    </p:spTree>
    <p:extLst>
      <p:ext uri="{BB962C8B-B14F-4D97-AF65-F5344CB8AC3E}">
        <p14:creationId xmlns:p14="http://schemas.microsoft.com/office/powerpoint/2010/main" val="247078271"/>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940652" y="909437"/>
            <a:ext cx="6913852" cy="5001890"/>
          </a:xfrm>
          <a:prstGeom prst="rect">
            <a:avLst/>
          </a:prstGeom>
          <a:extLst>
            <a:ext uri="{FAA26D3D-D897-4be2-8F04-BA451C77F1D7}">
              <ma14:placeholderFlag xmlns:ma14="http://schemas.microsoft.com/office/mac/drawingml/2011/main"/>
            </a:ext>
          </a:extLst>
        </p:spPr>
      </p:pic>
      <p:sp>
        <p:nvSpPr>
          <p:cNvPr id="3" name="TextBox 2"/>
          <p:cNvSpPr txBox="1"/>
          <p:nvPr/>
        </p:nvSpPr>
        <p:spPr>
          <a:xfrm>
            <a:off x="5612596" y="3919983"/>
            <a:ext cx="2461394" cy="369332"/>
          </a:xfrm>
          <a:prstGeom prst="rect">
            <a:avLst/>
          </a:prstGeom>
          <a:noFill/>
        </p:spPr>
        <p:txBody>
          <a:bodyPr wrap="square" rtlCol="0">
            <a:spAutoFit/>
          </a:bodyPr>
          <a:lstStyle/>
          <a:p>
            <a:r>
              <a:rPr lang="en-US" dirty="0" smtClean="0"/>
              <a:t>Tipping point</a:t>
            </a:r>
            <a:endParaRPr lang="en-US" dirty="0"/>
          </a:p>
        </p:txBody>
      </p:sp>
      <p:cxnSp>
        <p:nvCxnSpPr>
          <p:cNvPr id="5" name="Straight Arrow Connector 4"/>
          <p:cNvCxnSpPr/>
          <p:nvPr/>
        </p:nvCxnSpPr>
        <p:spPr>
          <a:xfrm flipH="1" flipV="1">
            <a:off x="5471506" y="3371182"/>
            <a:ext cx="658462" cy="61151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19058" y="2085428"/>
            <a:ext cx="705495" cy="523220"/>
          </a:xfrm>
          <a:prstGeom prst="rect">
            <a:avLst/>
          </a:prstGeom>
          <a:noFill/>
        </p:spPr>
        <p:txBody>
          <a:bodyPr wrap="square" rtlCol="0">
            <a:spAutoFit/>
          </a:bodyPr>
          <a:lstStyle/>
          <a:p>
            <a:r>
              <a:rPr lang="en-US" sz="2800" dirty="0" smtClean="0"/>
              <a:t>x</a:t>
            </a:r>
            <a:endParaRPr lang="en-US" sz="2800" dirty="0"/>
          </a:p>
        </p:txBody>
      </p:sp>
      <p:sp>
        <p:nvSpPr>
          <p:cNvPr id="7" name="TextBox 6"/>
          <p:cNvSpPr txBox="1"/>
          <p:nvPr/>
        </p:nvSpPr>
        <p:spPr>
          <a:xfrm>
            <a:off x="4374069" y="5770206"/>
            <a:ext cx="501686" cy="523220"/>
          </a:xfrm>
          <a:prstGeom prst="rect">
            <a:avLst/>
          </a:prstGeom>
          <a:noFill/>
        </p:spPr>
        <p:txBody>
          <a:bodyPr wrap="square" rtlCol="0">
            <a:spAutoFit/>
          </a:bodyPr>
          <a:lstStyle/>
          <a:p>
            <a:r>
              <a:rPr lang="en-US" sz="2800" dirty="0" smtClean="0"/>
              <a:t>c</a:t>
            </a:r>
            <a:endParaRPr lang="en-US" sz="2800" dirty="0"/>
          </a:p>
        </p:txBody>
      </p:sp>
      <p:sp>
        <p:nvSpPr>
          <p:cNvPr id="8" name="TextBox 7"/>
          <p:cNvSpPr txBox="1"/>
          <p:nvPr/>
        </p:nvSpPr>
        <p:spPr>
          <a:xfrm>
            <a:off x="2335973" y="235199"/>
            <a:ext cx="4577879" cy="461665"/>
          </a:xfrm>
          <a:prstGeom prst="rect">
            <a:avLst/>
          </a:prstGeom>
          <a:noFill/>
        </p:spPr>
        <p:txBody>
          <a:bodyPr wrap="square" rtlCol="0">
            <a:spAutoFit/>
          </a:bodyPr>
          <a:lstStyle/>
          <a:p>
            <a:r>
              <a:rPr lang="en-US" sz="2400" dirty="0" smtClean="0">
                <a:solidFill>
                  <a:srgbClr val="0000FF"/>
                </a:solidFill>
              </a:rPr>
              <a:t>       Plot of the solutions</a:t>
            </a:r>
            <a:endParaRPr lang="en-US" sz="2400" dirty="0">
              <a:solidFill>
                <a:srgbClr val="0000FF"/>
              </a:solidFill>
            </a:endParaRPr>
          </a:p>
        </p:txBody>
      </p:sp>
    </p:spTree>
    <p:extLst>
      <p:ext uri="{BB962C8B-B14F-4D97-AF65-F5344CB8AC3E}">
        <p14:creationId xmlns:p14="http://schemas.microsoft.com/office/powerpoint/2010/main" val="4068666494"/>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4" name="Text Box 4"/>
          <p:cNvSpPr txBox="1">
            <a:spLocks noChangeArrowheads="1"/>
          </p:cNvSpPr>
          <p:nvPr/>
        </p:nvSpPr>
        <p:spPr bwMode="auto">
          <a:xfrm>
            <a:off x="457200" y="188440"/>
            <a:ext cx="7848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defRPr/>
            </a:pPr>
            <a:r>
              <a:rPr lang="en-US" sz="2400" dirty="0">
                <a:solidFill>
                  <a:srgbClr val="FF0000"/>
                </a:solidFill>
                <a:latin typeface="Arial" charset="0"/>
                <a:cs typeface="Arial" charset="0"/>
              </a:rPr>
              <a:t>Voltage vs. demand </a:t>
            </a:r>
            <a:r>
              <a:rPr lang="en-US" sz="2400" dirty="0">
                <a:latin typeface="Arial" charset="0"/>
                <a:cs typeface="Arial" charset="0"/>
              </a:rPr>
              <a:t>often represented by a </a:t>
            </a:r>
            <a:r>
              <a:rPr lang="en-US" sz="2400" dirty="0">
                <a:solidFill>
                  <a:srgbClr val="0000FF"/>
                </a:solidFill>
                <a:latin typeface="Arial" charset="0"/>
                <a:cs typeface="Arial" charset="0"/>
              </a:rPr>
              <a:t>‘nose curve’</a:t>
            </a:r>
          </a:p>
        </p:txBody>
      </p:sp>
      <p:sp>
        <p:nvSpPr>
          <p:cNvPr id="225285" name="Text Box 5"/>
          <p:cNvSpPr txBox="1">
            <a:spLocks noChangeArrowheads="1"/>
          </p:cNvSpPr>
          <p:nvPr/>
        </p:nvSpPr>
        <p:spPr bwMode="auto">
          <a:xfrm>
            <a:off x="457200" y="5840635"/>
            <a:ext cx="8229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a:latin typeface="Arial" charset="0"/>
                <a:cs typeface="Arial" charset="0"/>
              </a:rPr>
              <a:t>Tipping point occurs when the </a:t>
            </a:r>
            <a:r>
              <a:rPr lang="en-US" sz="2400" dirty="0">
                <a:solidFill>
                  <a:srgbClr val="C22CB8"/>
                </a:solidFill>
                <a:latin typeface="Arial" charset="0"/>
                <a:cs typeface="Arial" charset="0"/>
              </a:rPr>
              <a:t>demand gets </a:t>
            </a:r>
            <a:r>
              <a:rPr lang="en-US" sz="2400" dirty="0" smtClean="0">
                <a:solidFill>
                  <a:srgbClr val="C22CB8"/>
                </a:solidFill>
                <a:latin typeface="Arial" charset="0"/>
                <a:cs typeface="Arial" charset="0"/>
              </a:rPr>
              <a:t>too </a:t>
            </a:r>
            <a:r>
              <a:rPr lang="en-US" sz="2400" dirty="0">
                <a:solidFill>
                  <a:srgbClr val="C22CB8"/>
                </a:solidFill>
                <a:latin typeface="Arial" charset="0"/>
                <a:cs typeface="Arial" charset="0"/>
              </a:rPr>
              <a:t>high </a:t>
            </a:r>
            <a:r>
              <a:rPr lang="en-US" sz="2400" dirty="0">
                <a:latin typeface="Arial" charset="0"/>
                <a:cs typeface="Arial" charset="0"/>
              </a:rPr>
              <a:t>and the ‘</a:t>
            </a:r>
            <a:r>
              <a:rPr lang="en-US" sz="2400" dirty="0">
                <a:solidFill>
                  <a:srgbClr val="FF0000"/>
                </a:solidFill>
                <a:latin typeface="Arial" charset="0"/>
                <a:cs typeface="Arial" charset="0"/>
              </a:rPr>
              <a:t>voltage collapses’</a:t>
            </a:r>
            <a:r>
              <a:rPr lang="en-US" sz="2400" dirty="0">
                <a:latin typeface="Arial" charset="0"/>
                <a:cs typeface="Arial" charset="0"/>
              </a:rPr>
              <a:t> to zero</a:t>
            </a:r>
            <a:endParaRPr lang="en-US" sz="2400" dirty="0">
              <a:cs typeface="Arial" charset="0"/>
            </a:endParaRPr>
          </a:p>
        </p:txBody>
      </p:sp>
      <p:sp>
        <p:nvSpPr>
          <p:cNvPr id="225286" name="Text Box 6"/>
          <p:cNvSpPr txBox="1">
            <a:spLocks noChangeArrowheads="1"/>
          </p:cNvSpPr>
          <p:nvPr/>
        </p:nvSpPr>
        <p:spPr bwMode="auto">
          <a:xfrm>
            <a:off x="499854" y="527788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smtClean="0">
                <a:latin typeface="Arial" charset="0"/>
                <a:cs typeface="Arial" charset="0"/>
              </a:rPr>
              <a:t>Very similar to the </a:t>
            </a:r>
            <a:r>
              <a:rPr lang="en-US" sz="2400" dirty="0" smtClean="0">
                <a:solidFill>
                  <a:srgbClr val="0000FF"/>
                </a:solidFill>
                <a:latin typeface="Arial" charset="0"/>
                <a:cs typeface="Arial" charset="0"/>
              </a:rPr>
              <a:t>solution of the quadratic</a:t>
            </a:r>
            <a:endParaRPr lang="en-US" sz="2400" dirty="0">
              <a:solidFill>
                <a:srgbClr val="0000FF"/>
              </a:solidFill>
              <a:cs typeface="Arial" charset="0"/>
            </a:endParaRPr>
          </a:p>
        </p:txBody>
      </p:sp>
      <p:pic>
        <p:nvPicPr>
          <p:cNvPr id="23556" name="Picture 8" descr="P-V-curv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631" y="718027"/>
            <a:ext cx="7504601" cy="456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45528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endParaRPr lang="en-US">
              <a:latin typeface="Arial" charset="0"/>
            </a:endParaRPr>
          </a:p>
        </p:txBody>
      </p:sp>
      <p:sp>
        <p:nvSpPr>
          <p:cNvPr id="35842" name="Rectangle 3"/>
          <p:cNvSpPr>
            <a:spLocks noGrp="1" noChangeArrowheads="1"/>
          </p:cNvSpPr>
          <p:nvPr>
            <p:ph type="body" idx="1"/>
          </p:nvPr>
        </p:nvSpPr>
        <p:spPr/>
        <p:txBody>
          <a:bodyPr/>
          <a:lstStyle/>
          <a:p>
            <a:endParaRPr lang="en-US">
              <a:latin typeface="Arial" charset="0"/>
            </a:endParaRPr>
          </a:p>
        </p:txBody>
      </p:sp>
      <p:pic>
        <p:nvPicPr>
          <p:cNvPr id="2365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50400" cy="740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90268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3619" y="611513"/>
            <a:ext cx="4985499" cy="6001642"/>
          </a:xfrm>
          <a:prstGeom prst="rect">
            <a:avLst/>
          </a:prstGeom>
          <a:noFill/>
        </p:spPr>
        <p:txBody>
          <a:bodyPr wrap="square" rtlCol="0">
            <a:spAutoFit/>
          </a:bodyPr>
          <a:lstStyle/>
          <a:p>
            <a:r>
              <a:rPr lang="en-US" sz="3200" dirty="0" smtClean="0"/>
              <a:t>We</a:t>
            </a:r>
            <a:r>
              <a:rPr lang="en-US" sz="3200" dirty="0" smtClean="0">
                <a:solidFill>
                  <a:srgbClr val="FF0000"/>
                </a:solidFill>
              </a:rPr>
              <a:t> design, monitor, simulate and control the power network </a:t>
            </a:r>
            <a:r>
              <a:rPr lang="en-US" sz="3200" dirty="0" smtClean="0">
                <a:solidFill>
                  <a:srgbClr val="000000"/>
                </a:solidFill>
              </a:rPr>
              <a:t>to avoid a voltage collapse</a:t>
            </a:r>
          </a:p>
          <a:p>
            <a:endParaRPr lang="en-US" sz="3200" dirty="0">
              <a:solidFill>
                <a:srgbClr val="FF0000"/>
              </a:solidFill>
            </a:endParaRPr>
          </a:p>
          <a:p>
            <a:endParaRPr lang="en-US" sz="3200" dirty="0" smtClean="0"/>
          </a:p>
          <a:p>
            <a:endParaRPr lang="en-US" sz="3200" dirty="0"/>
          </a:p>
          <a:p>
            <a:pPr algn="just"/>
            <a:r>
              <a:rPr lang="en-US" sz="3200" dirty="0" smtClean="0">
                <a:solidFill>
                  <a:srgbClr val="000000"/>
                </a:solidFill>
              </a:rPr>
              <a:t>Involves</a:t>
            </a:r>
            <a:r>
              <a:rPr lang="en-US" sz="3200" dirty="0" smtClean="0">
                <a:solidFill>
                  <a:srgbClr val="0000FF"/>
                </a:solidFill>
              </a:rPr>
              <a:t> solving large numbers of quadratic equations very quickly to react to changes in supply and demand</a:t>
            </a:r>
            <a:endParaRPr lang="en-US" sz="3200" dirty="0">
              <a:solidFill>
                <a:srgbClr val="0000FF"/>
              </a:solidFill>
            </a:endParaRPr>
          </a:p>
        </p:txBody>
      </p:sp>
      <p:pic>
        <p:nvPicPr>
          <p:cNvPr id="5" name="Picture 4" descr="Quadratic.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2694" y="1317108"/>
            <a:ext cx="2532005" cy="3879031"/>
          </a:xfrm>
          <a:prstGeom prst="rect">
            <a:avLst/>
          </a:prstGeom>
        </p:spPr>
      </p:pic>
    </p:spTree>
    <p:extLst>
      <p:ext uri="{BB962C8B-B14F-4D97-AF65-F5344CB8AC3E}">
        <p14:creationId xmlns:p14="http://schemas.microsoft.com/office/powerpoint/2010/main" val="2450694463"/>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AutoShape 3" descr="9k="/>
          <p:cNvSpPr>
            <a:spLocks noChangeAspect="1" noChangeArrowheads="1"/>
          </p:cNvSpPr>
          <p:nvPr/>
        </p:nvSpPr>
        <p:spPr bwMode="auto">
          <a:xfrm>
            <a:off x="4419600" y="27717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31" name="Text Box 4"/>
          <p:cNvSpPr txBox="1">
            <a:spLocks noChangeArrowheads="1"/>
          </p:cNvSpPr>
          <p:nvPr/>
        </p:nvSpPr>
        <p:spPr bwMode="auto">
          <a:xfrm>
            <a:off x="3563938" y="4437063"/>
            <a:ext cx="172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spcBef>
                <a:spcPct val="50000"/>
              </a:spcBef>
              <a:defRPr/>
            </a:pPr>
            <a:endParaRPr lang="en-US" smtClean="0">
              <a:latin typeface="Trebuchet MS" charset="0"/>
            </a:endParaRPr>
          </a:p>
        </p:txBody>
      </p:sp>
      <p:sp>
        <p:nvSpPr>
          <p:cNvPr id="59395" name="AutoShape 5" descr="2Q=="/>
          <p:cNvSpPr>
            <a:spLocks noChangeAspect="1" noChangeArrowheads="1"/>
          </p:cNvSpPr>
          <p:nvPr/>
        </p:nvSpPr>
        <p:spPr bwMode="auto">
          <a:xfrm>
            <a:off x="4419600" y="277177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33" name="Text Box 6"/>
          <p:cNvSpPr txBox="1">
            <a:spLocks noChangeArrowheads="1"/>
          </p:cNvSpPr>
          <p:nvPr/>
        </p:nvSpPr>
        <p:spPr bwMode="auto">
          <a:xfrm>
            <a:off x="698500" y="1474788"/>
            <a:ext cx="184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spcBef>
                <a:spcPct val="50000"/>
              </a:spcBef>
              <a:defRPr/>
            </a:pPr>
            <a:endParaRPr lang="en-US" smtClean="0">
              <a:latin typeface="Trebuchet MS" charset="0"/>
            </a:endParaRPr>
          </a:p>
        </p:txBody>
      </p:sp>
      <p:sp>
        <p:nvSpPr>
          <p:cNvPr id="59397" name="AutoShape 7" descr="Z"/>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9398" name="AutoShape 8" descr="Z"/>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59399" name="Picture 9" descr="ferrybridge-power-st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052513"/>
            <a:ext cx="266382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0" name="Picture 10" descr="China-Wind-Power-Double-2-537x3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052513"/>
            <a:ext cx="2663825"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8" name="Text Box 11"/>
          <p:cNvSpPr txBox="1">
            <a:spLocks noChangeArrowheads="1"/>
          </p:cNvSpPr>
          <p:nvPr/>
        </p:nvSpPr>
        <p:spPr bwMode="auto">
          <a:xfrm>
            <a:off x="3635375" y="1608138"/>
            <a:ext cx="1511300" cy="646112"/>
          </a:xfrm>
          <a:prstGeom prst="rect">
            <a:avLst/>
          </a:prstGeom>
          <a:solidFill>
            <a:srgbClr val="FF0000"/>
          </a:solidFill>
          <a:ln>
            <a:noFill/>
          </a:ln>
          <a:effectLs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lgn="ctr">
              <a:spcBef>
                <a:spcPct val="50000"/>
              </a:spcBef>
              <a:defRPr/>
            </a:pPr>
            <a:r>
              <a:rPr lang="en-GB" sz="1800" b="0" baseline="0" dirty="0" smtClean="0">
                <a:solidFill>
                  <a:schemeClr val="bg1"/>
                </a:solidFill>
                <a:latin typeface="Trebuchet MS" charset="0"/>
              </a:rPr>
              <a:t>Low carbon generation</a:t>
            </a:r>
            <a:endParaRPr lang="en-US" sz="1800" b="0" baseline="0" dirty="0" smtClean="0">
              <a:solidFill>
                <a:schemeClr val="bg1"/>
              </a:solidFill>
              <a:latin typeface="Trebuchet MS" charset="0"/>
            </a:endParaRPr>
          </a:p>
        </p:txBody>
      </p:sp>
      <p:sp>
        <p:nvSpPr>
          <p:cNvPr id="22539" name="Text Box 12"/>
          <p:cNvSpPr txBox="1">
            <a:spLocks noChangeArrowheads="1"/>
          </p:cNvSpPr>
          <p:nvPr/>
        </p:nvSpPr>
        <p:spPr bwMode="auto">
          <a:xfrm>
            <a:off x="3563938" y="3502025"/>
            <a:ext cx="1800225" cy="1062038"/>
          </a:xfrm>
          <a:prstGeom prst="rect">
            <a:avLst/>
          </a:prstGeom>
          <a:solidFill>
            <a:srgbClr val="FF0000"/>
          </a:solidFill>
          <a:ln>
            <a:noFill/>
          </a:ln>
          <a:effectLs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lgn="ctr">
              <a:spcBef>
                <a:spcPct val="50000"/>
              </a:spcBef>
              <a:defRPr/>
            </a:pPr>
            <a:r>
              <a:rPr lang="en-GB" sz="1800" b="0" baseline="0" dirty="0" smtClean="0">
                <a:solidFill>
                  <a:schemeClr val="bg1"/>
                </a:solidFill>
                <a:latin typeface="Trebuchet MS" charset="0"/>
              </a:rPr>
              <a:t>Low carbon </a:t>
            </a:r>
            <a:r>
              <a:rPr lang="en-GB" sz="1800" baseline="0" dirty="0" smtClean="0">
                <a:solidFill>
                  <a:schemeClr val="bg1"/>
                </a:solidFill>
                <a:latin typeface="Trebuchet MS" charset="0"/>
              </a:rPr>
              <a:t>consumption</a:t>
            </a:r>
          </a:p>
          <a:p>
            <a:pPr algn="ctr">
              <a:spcBef>
                <a:spcPct val="50000"/>
              </a:spcBef>
              <a:defRPr/>
            </a:pPr>
            <a:r>
              <a:rPr lang="en-GB" sz="1800" baseline="0" dirty="0" smtClean="0">
                <a:solidFill>
                  <a:schemeClr val="bg1"/>
                </a:solidFill>
                <a:latin typeface="Trebuchet MS" charset="0"/>
              </a:rPr>
              <a:t>And storage</a:t>
            </a:r>
            <a:endParaRPr lang="en-US" sz="1800" baseline="0" dirty="0" smtClean="0">
              <a:solidFill>
                <a:schemeClr val="bg1"/>
              </a:solidFill>
              <a:latin typeface="Trebuchet MS" charset="0"/>
            </a:endParaRPr>
          </a:p>
        </p:txBody>
      </p:sp>
      <p:sp>
        <p:nvSpPr>
          <p:cNvPr id="59403" name="AutoShape 13" descr="Z"/>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59404" name="Picture 14" descr="ANd9GcTfCDzXXen7tvpKhQde-ImAUgzdHnQ9SvuB1_KtQFbl9nYUE23Nu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141663"/>
            <a:ext cx="277177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5" name="Picture 15" descr="Nissan-responds-to-sluggish-Leaf-sales-with-improvements-for-20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3141663"/>
            <a:ext cx="2795587"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6" name="Picture 20" descr="smart gri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500" y="5013325"/>
            <a:ext cx="27368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4"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4868863"/>
            <a:ext cx="3348037"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2545" name="Text Box 22"/>
          <p:cNvSpPr txBox="1">
            <a:spLocks noChangeArrowheads="1"/>
          </p:cNvSpPr>
          <p:nvPr/>
        </p:nvSpPr>
        <p:spPr bwMode="auto">
          <a:xfrm>
            <a:off x="3635375" y="5300663"/>
            <a:ext cx="1800225" cy="923925"/>
          </a:xfrm>
          <a:prstGeom prst="rect">
            <a:avLst/>
          </a:prstGeom>
          <a:solidFill>
            <a:srgbClr val="FF0000"/>
          </a:solidFill>
          <a:ln>
            <a:noFill/>
          </a:ln>
          <a:effectLs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lgn="ctr">
              <a:spcBef>
                <a:spcPct val="50000"/>
              </a:spcBef>
              <a:defRPr/>
            </a:pPr>
            <a:r>
              <a:rPr lang="en-GB" sz="1800" b="0" baseline="0" dirty="0" smtClean="0">
                <a:solidFill>
                  <a:schemeClr val="bg1"/>
                </a:solidFill>
                <a:latin typeface="Trebuchet MS" charset="0"/>
              </a:rPr>
              <a:t>Modernising the legacy infrastructure</a:t>
            </a:r>
            <a:endParaRPr lang="en-US" sz="1800" b="0" baseline="0" dirty="0" smtClean="0">
              <a:solidFill>
                <a:schemeClr val="bg1"/>
              </a:solidFill>
              <a:latin typeface="Trebuchet MS" charset="0"/>
            </a:endParaRPr>
          </a:p>
        </p:txBody>
      </p:sp>
      <p:sp>
        <p:nvSpPr>
          <p:cNvPr id="19" name="Title 3"/>
          <p:cNvSpPr txBox="1">
            <a:spLocks/>
          </p:cNvSpPr>
          <p:nvPr/>
        </p:nvSpPr>
        <p:spPr bwMode="auto">
          <a:xfrm>
            <a:off x="1223963" y="185293"/>
            <a:ext cx="8101012"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rtl="0" eaLnBrk="0" fontAlgn="base" hangingPunct="0">
              <a:spcBef>
                <a:spcPct val="0"/>
              </a:spcBef>
              <a:spcAft>
                <a:spcPct val="0"/>
              </a:spcAft>
              <a:defRPr sz="2800" b="1">
                <a:solidFill>
                  <a:schemeClr val="tx1"/>
                </a:solidFill>
                <a:latin typeface="+mj-lt"/>
                <a:ea typeface="ＭＳ Ｐゴシック" pitchFamily="34" charset="-128"/>
                <a:cs typeface="MS PGothic" charset="0"/>
              </a:defRPr>
            </a:lvl1pPr>
            <a:lvl2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2pPr>
            <a:lvl3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3pPr>
            <a:lvl4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4pPr>
            <a:lvl5pPr algn="l" rtl="0" eaLnBrk="0" fontAlgn="base" hangingPunct="0">
              <a:spcBef>
                <a:spcPct val="0"/>
              </a:spcBef>
              <a:spcAft>
                <a:spcPct val="0"/>
              </a:spcAft>
              <a:defRPr sz="2800" b="1">
                <a:solidFill>
                  <a:schemeClr val="tx1"/>
                </a:solidFill>
                <a:latin typeface="Arial" charset="0"/>
                <a:ea typeface="ＭＳ Ｐゴシック" pitchFamily="34" charset="-128"/>
                <a:cs typeface="MS PGothic" charset="0"/>
              </a:defRPr>
            </a:lvl5pPr>
            <a:lvl6pPr marL="457200" algn="l" rtl="0" eaLnBrk="1" fontAlgn="base" hangingPunct="1">
              <a:spcBef>
                <a:spcPct val="0"/>
              </a:spcBef>
              <a:spcAft>
                <a:spcPct val="0"/>
              </a:spcAft>
              <a:defRPr sz="2800" b="1">
                <a:solidFill>
                  <a:srgbClr val="45535F"/>
                </a:solidFill>
                <a:latin typeface="Arial" charset="0"/>
              </a:defRPr>
            </a:lvl6pPr>
            <a:lvl7pPr marL="914400" algn="l" rtl="0" eaLnBrk="1" fontAlgn="base" hangingPunct="1">
              <a:spcBef>
                <a:spcPct val="0"/>
              </a:spcBef>
              <a:spcAft>
                <a:spcPct val="0"/>
              </a:spcAft>
              <a:defRPr sz="2800" b="1">
                <a:solidFill>
                  <a:srgbClr val="45535F"/>
                </a:solidFill>
                <a:latin typeface="Arial" charset="0"/>
              </a:defRPr>
            </a:lvl7pPr>
            <a:lvl8pPr marL="1371600" algn="l" rtl="0" eaLnBrk="1" fontAlgn="base" hangingPunct="1">
              <a:spcBef>
                <a:spcPct val="0"/>
              </a:spcBef>
              <a:spcAft>
                <a:spcPct val="0"/>
              </a:spcAft>
              <a:defRPr sz="2800" b="1">
                <a:solidFill>
                  <a:srgbClr val="45535F"/>
                </a:solidFill>
                <a:latin typeface="Arial" charset="0"/>
              </a:defRPr>
            </a:lvl8pPr>
            <a:lvl9pPr marL="1828800" algn="l" rtl="0" eaLnBrk="1" fontAlgn="base" hangingPunct="1">
              <a:spcBef>
                <a:spcPct val="0"/>
              </a:spcBef>
              <a:spcAft>
                <a:spcPct val="0"/>
              </a:spcAft>
              <a:defRPr sz="2800" b="1">
                <a:solidFill>
                  <a:srgbClr val="45535F"/>
                </a:solidFill>
                <a:latin typeface="Arial" charset="0"/>
              </a:defRPr>
            </a:lvl9pPr>
          </a:lstStyle>
          <a:p>
            <a:pPr>
              <a:defRPr/>
            </a:pPr>
            <a:r>
              <a:rPr lang="en-GB" sz="2400" b="0" baseline="0" dirty="0" smtClean="0">
                <a:solidFill>
                  <a:srgbClr val="FF0000"/>
                </a:solidFill>
              </a:rPr>
              <a:t>                          </a:t>
            </a:r>
            <a:r>
              <a:rPr lang="en-GB" sz="2400" b="0" baseline="0" dirty="0" smtClean="0">
                <a:solidFill>
                  <a:srgbClr val="0000FF"/>
                </a:solidFill>
              </a:rPr>
              <a:t> </a:t>
            </a:r>
            <a:r>
              <a:rPr lang="en-GB" b="0" baseline="0" dirty="0" smtClean="0">
                <a:solidFill>
                  <a:srgbClr val="0000FF"/>
                </a:solidFill>
              </a:rPr>
              <a:t>Future Challenges</a:t>
            </a:r>
            <a:endParaRPr lang="en-GB" b="0" baseline="0" dirty="0">
              <a:solidFill>
                <a:srgbClr val="0000FF"/>
              </a:solidFill>
            </a:endParaRPr>
          </a:p>
        </p:txBody>
      </p:sp>
    </p:spTree>
    <p:extLst>
      <p:ext uri="{BB962C8B-B14F-4D97-AF65-F5344CB8AC3E}">
        <p14:creationId xmlns:p14="http://schemas.microsoft.com/office/powerpoint/2010/main" val="2324176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AutoShape 3" descr="9k="/>
          <p:cNvSpPr>
            <a:spLocks noChangeAspect="1" noChangeArrowheads="1"/>
          </p:cNvSpPr>
          <p:nvPr/>
        </p:nvSpPr>
        <p:spPr bwMode="auto">
          <a:xfrm>
            <a:off x="4419600" y="209753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556" name="Text Box 4"/>
          <p:cNvSpPr txBox="1">
            <a:spLocks noChangeArrowheads="1"/>
          </p:cNvSpPr>
          <p:nvPr/>
        </p:nvSpPr>
        <p:spPr bwMode="auto">
          <a:xfrm>
            <a:off x="3563938" y="3762823"/>
            <a:ext cx="1727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spcBef>
                <a:spcPct val="50000"/>
              </a:spcBef>
              <a:defRPr/>
            </a:pPr>
            <a:endParaRPr lang="en-US" smtClean="0">
              <a:latin typeface="Trebuchet MS" charset="0"/>
            </a:endParaRPr>
          </a:p>
        </p:txBody>
      </p:sp>
      <p:sp>
        <p:nvSpPr>
          <p:cNvPr id="92164" name="AutoShape 5" descr="2Q=="/>
          <p:cNvSpPr>
            <a:spLocks noChangeAspect="1" noChangeArrowheads="1"/>
          </p:cNvSpPr>
          <p:nvPr/>
        </p:nvSpPr>
        <p:spPr bwMode="auto">
          <a:xfrm>
            <a:off x="4419600" y="209753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558" name="Text Box 6"/>
          <p:cNvSpPr txBox="1">
            <a:spLocks noChangeArrowheads="1"/>
          </p:cNvSpPr>
          <p:nvPr/>
        </p:nvSpPr>
        <p:spPr bwMode="auto">
          <a:xfrm>
            <a:off x="698500" y="1474788"/>
            <a:ext cx="184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spcBef>
                <a:spcPct val="50000"/>
              </a:spcBef>
              <a:defRPr/>
            </a:pPr>
            <a:endParaRPr lang="en-US" smtClean="0">
              <a:latin typeface="Trebuchet MS" charset="0"/>
            </a:endParaRPr>
          </a:p>
        </p:txBody>
      </p:sp>
      <p:sp>
        <p:nvSpPr>
          <p:cNvPr id="92166" name="AutoShape 7" descr="Z"/>
          <p:cNvSpPr>
            <a:spLocks noChangeAspect="1" noChangeArrowheads="1"/>
          </p:cNvSpPr>
          <p:nvPr/>
        </p:nvSpPr>
        <p:spPr bwMode="auto">
          <a:xfrm>
            <a:off x="4419600" y="260236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167" name="AutoShape 8" descr="Z"/>
          <p:cNvSpPr>
            <a:spLocks noChangeAspect="1" noChangeArrowheads="1"/>
          </p:cNvSpPr>
          <p:nvPr/>
        </p:nvSpPr>
        <p:spPr bwMode="auto">
          <a:xfrm>
            <a:off x="4419600" y="260236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168" name="AutoShape 26" descr="Z"/>
          <p:cNvSpPr>
            <a:spLocks noChangeAspect="1" noChangeArrowheads="1"/>
          </p:cNvSpPr>
          <p:nvPr/>
        </p:nvSpPr>
        <p:spPr bwMode="auto">
          <a:xfrm>
            <a:off x="4419600" y="260236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92173"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4466" y="1208828"/>
            <a:ext cx="7282367" cy="5226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0" name="Text Box 55"/>
          <p:cNvSpPr txBox="1">
            <a:spLocks noChangeArrowheads="1"/>
          </p:cNvSpPr>
          <p:nvPr/>
        </p:nvSpPr>
        <p:spPr bwMode="auto">
          <a:xfrm>
            <a:off x="0" y="6583363"/>
            <a:ext cx="11874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ＭＳ Ｐゴシック" charset="0"/>
                <a:cs typeface="ＭＳ Ｐゴシック" charset="0"/>
              </a:defRPr>
            </a:lvl1pPr>
            <a:lvl2pPr>
              <a:defRPr sz="2000">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sz="1600">
                <a:solidFill>
                  <a:schemeClr val="tx1"/>
                </a:solidFill>
                <a:latin typeface="Arial" charset="0"/>
                <a:ea typeface="ＭＳ Ｐゴシック" charset="0"/>
              </a:defRPr>
            </a:lvl5pPr>
            <a:lvl6pPr eaLnBrk="0" hangingPunct="0">
              <a:defRPr sz="1600">
                <a:solidFill>
                  <a:schemeClr val="tx1"/>
                </a:solidFill>
                <a:latin typeface="Arial" charset="0"/>
                <a:ea typeface="ＭＳ Ｐゴシック" charset="0"/>
              </a:defRPr>
            </a:lvl6pPr>
            <a:lvl7pPr eaLnBrk="0" hangingPunct="0">
              <a:defRPr sz="1600">
                <a:solidFill>
                  <a:schemeClr val="tx1"/>
                </a:solidFill>
                <a:latin typeface="Arial" charset="0"/>
                <a:ea typeface="ＭＳ Ｐゴシック" charset="0"/>
              </a:defRPr>
            </a:lvl7pPr>
            <a:lvl8pPr eaLnBrk="0" hangingPunct="0">
              <a:defRPr sz="1600">
                <a:solidFill>
                  <a:schemeClr val="tx1"/>
                </a:solidFill>
                <a:latin typeface="Arial" charset="0"/>
                <a:ea typeface="ＭＳ Ｐゴシック" charset="0"/>
              </a:defRPr>
            </a:lvl8pPr>
            <a:lvl9pPr eaLnBrk="0" hangingPunct="0">
              <a:defRPr sz="1600">
                <a:solidFill>
                  <a:schemeClr val="tx1"/>
                </a:solidFill>
                <a:latin typeface="Arial" charset="0"/>
                <a:ea typeface="ＭＳ Ｐゴシック" charset="0"/>
              </a:defRPr>
            </a:lvl9pPr>
          </a:lstStyle>
          <a:p>
            <a:pPr>
              <a:spcBef>
                <a:spcPct val="50000"/>
              </a:spcBef>
              <a:defRPr/>
            </a:pPr>
            <a:endParaRPr lang="en-US" smtClean="0">
              <a:latin typeface="Trebuchet MS" charset="0"/>
            </a:endParaRPr>
          </a:p>
        </p:txBody>
      </p:sp>
      <p:sp>
        <p:nvSpPr>
          <p:cNvPr id="3" name="TextBox 2"/>
          <p:cNvSpPr txBox="1"/>
          <p:nvPr/>
        </p:nvSpPr>
        <p:spPr>
          <a:xfrm>
            <a:off x="1818616" y="423357"/>
            <a:ext cx="6921777" cy="523220"/>
          </a:xfrm>
          <a:prstGeom prst="rect">
            <a:avLst/>
          </a:prstGeom>
          <a:noFill/>
        </p:spPr>
        <p:txBody>
          <a:bodyPr wrap="square" rtlCol="0">
            <a:spAutoFit/>
          </a:bodyPr>
          <a:lstStyle/>
          <a:p>
            <a:r>
              <a:rPr lang="en-US" sz="2800" dirty="0" smtClean="0">
                <a:solidFill>
                  <a:srgbClr val="0000FF"/>
                </a:solidFill>
              </a:rPr>
              <a:t>Projected changes in electricity supply</a:t>
            </a:r>
            <a:endParaRPr lang="en-US" sz="2800" dirty="0">
              <a:solidFill>
                <a:srgbClr val="0000FF"/>
              </a:solidFill>
            </a:endParaRPr>
          </a:p>
        </p:txBody>
      </p:sp>
    </p:spTree>
    <p:extLst>
      <p:ext uri="{BB962C8B-B14F-4D97-AF65-F5344CB8AC3E}">
        <p14:creationId xmlns:p14="http://schemas.microsoft.com/office/powerpoint/2010/main" val="908851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755894" y="1610385"/>
            <a:ext cx="5487184" cy="3908938"/>
          </a:xfrm>
          <a:prstGeom prst="rect">
            <a:avLst/>
          </a:prstGeom>
          <a:extLst>
            <a:ext uri="{FAA26D3D-D897-4be2-8F04-BA451C77F1D7}">
              <ma14:placeholderFlag xmlns:ma14="http://schemas.microsoft.com/office/mac/drawingml/2011/main"/>
            </a:ext>
          </a:extLst>
        </p:spPr>
      </p:pic>
      <p:sp>
        <p:nvSpPr>
          <p:cNvPr id="5" name="TextBox 4"/>
          <p:cNvSpPr txBox="1"/>
          <p:nvPr/>
        </p:nvSpPr>
        <p:spPr>
          <a:xfrm>
            <a:off x="1285569" y="501757"/>
            <a:ext cx="6192679" cy="523220"/>
          </a:xfrm>
          <a:prstGeom prst="rect">
            <a:avLst/>
          </a:prstGeom>
          <a:noFill/>
        </p:spPr>
        <p:txBody>
          <a:bodyPr wrap="square" rtlCol="0">
            <a:spAutoFit/>
          </a:bodyPr>
          <a:lstStyle/>
          <a:p>
            <a:r>
              <a:rPr lang="en-US" sz="2800" dirty="0" smtClean="0">
                <a:solidFill>
                  <a:srgbClr val="FF0000"/>
                </a:solidFill>
              </a:rPr>
              <a:t>    The answer is blowing in the wind???</a:t>
            </a:r>
            <a:endParaRPr lang="en-US" sz="2800" dirty="0">
              <a:solidFill>
                <a:srgbClr val="FF0000"/>
              </a:solidFill>
            </a:endParaRPr>
          </a:p>
        </p:txBody>
      </p:sp>
      <p:sp>
        <p:nvSpPr>
          <p:cNvPr id="2" name="TextBox 1"/>
          <p:cNvSpPr txBox="1"/>
          <p:nvPr/>
        </p:nvSpPr>
        <p:spPr>
          <a:xfrm>
            <a:off x="156777" y="5738847"/>
            <a:ext cx="9108725" cy="830997"/>
          </a:xfrm>
          <a:prstGeom prst="rect">
            <a:avLst/>
          </a:prstGeom>
          <a:noFill/>
        </p:spPr>
        <p:txBody>
          <a:bodyPr wrap="square" rtlCol="0">
            <a:spAutoFit/>
          </a:bodyPr>
          <a:lstStyle/>
          <a:p>
            <a:r>
              <a:rPr lang="en-US" sz="2400" dirty="0" smtClean="0">
                <a:solidFill>
                  <a:srgbClr val="0000FF"/>
                </a:solidFill>
              </a:rPr>
              <a:t>Largest realistic source of renewable energy is </a:t>
            </a:r>
            <a:r>
              <a:rPr lang="en-US" sz="2400" dirty="0" smtClean="0">
                <a:solidFill>
                  <a:srgbClr val="FF0000"/>
                </a:solidFill>
              </a:rPr>
              <a:t>off-shore </a:t>
            </a:r>
            <a:r>
              <a:rPr lang="en-US" sz="2400" dirty="0" smtClean="0">
                <a:solidFill>
                  <a:srgbClr val="0000FF"/>
                </a:solidFill>
              </a:rPr>
              <a:t>and on-shore wind power:  </a:t>
            </a:r>
            <a:r>
              <a:rPr lang="en-US" sz="2400" dirty="0" smtClean="0">
                <a:solidFill>
                  <a:srgbClr val="FF0000"/>
                </a:solidFill>
              </a:rPr>
              <a:t>UK leads the world  14.6 GW     20% of total</a:t>
            </a:r>
            <a:endParaRPr lang="en-US" sz="2400" dirty="0">
              <a:solidFill>
                <a:srgbClr val="FF0000"/>
              </a:solidFill>
            </a:endParaRPr>
          </a:p>
        </p:txBody>
      </p:sp>
    </p:spTree>
    <p:extLst>
      <p:ext uri="{BB962C8B-B14F-4D97-AF65-F5344CB8AC3E}">
        <p14:creationId xmlns:p14="http://schemas.microsoft.com/office/powerpoint/2010/main" val="1313918077"/>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235163" y="1928633"/>
            <a:ext cx="8309164" cy="4421733"/>
          </a:xfrm>
          <a:prstGeom prst="rect">
            <a:avLst/>
          </a:prstGeom>
          <a:extLst>
            <a:ext uri="{FAA26D3D-D897-4be2-8F04-BA451C77F1D7}">
              <ma14:placeholderFlag xmlns:ma14="http://schemas.microsoft.com/office/mac/drawingml/2011/main"/>
            </a:ext>
          </a:extLst>
        </p:spPr>
      </p:pic>
      <p:sp>
        <p:nvSpPr>
          <p:cNvPr id="5" name="TextBox 4"/>
          <p:cNvSpPr txBox="1"/>
          <p:nvPr/>
        </p:nvSpPr>
        <p:spPr>
          <a:xfrm>
            <a:off x="438975" y="407678"/>
            <a:ext cx="8183743" cy="1200328"/>
          </a:xfrm>
          <a:prstGeom prst="rect">
            <a:avLst/>
          </a:prstGeom>
          <a:noFill/>
        </p:spPr>
        <p:txBody>
          <a:bodyPr wrap="square" rtlCol="0">
            <a:spAutoFit/>
          </a:bodyPr>
          <a:lstStyle/>
          <a:p>
            <a:r>
              <a:rPr lang="en-US" sz="2400" dirty="0" smtClean="0">
                <a:solidFill>
                  <a:srgbClr val="FF0000"/>
                </a:solidFill>
              </a:rPr>
              <a:t>                    Problem:  wind speeds vary a lot with time</a:t>
            </a:r>
          </a:p>
          <a:p>
            <a:endParaRPr lang="en-US" sz="2400" dirty="0">
              <a:solidFill>
                <a:srgbClr val="FF0000"/>
              </a:solidFill>
            </a:endParaRPr>
          </a:p>
          <a:p>
            <a:r>
              <a:rPr lang="en-US" sz="2400" dirty="0" smtClean="0">
                <a:solidFill>
                  <a:srgbClr val="FF0000"/>
                </a:solidFill>
              </a:rPr>
              <a:t>            </a:t>
            </a:r>
            <a:r>
              <a:rPr lang="en-US" sz="2400" dirty="0" smtClean="0">
                <a:solidFill>
                  <a:srgbClr val="0000FF"/>
                </a:solidFill>
              </a:rPr>
              <a:t> How can we ensure a predictable supply of power?</a:t>
            </a:r>
            <a:endParaRPr lang="en-US" sz="2400" dirty="0">
              <a:solidFill>
                <a:srgbClr val="0000FF"/>
              </a:solidFill>
            </a:endParaRPr>
          </a:p>
        </p:txBody>
      </p:sp>
    </p:spTree>
    <p:extLst>
      <p:ext uri="{BB962C8B-B14F-4D97-AF65-F5344CB8AC3E}">
        <p14:creationId xmlns:p14="http://schemas.microsoft.com/office/powerpoint/2010/main" val="3783045"/>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718" y="235196"/>
            <a:ext cx="8277809" cy="6555642"/>
          </a:xfrm>
          <a:prstGeom prst="rect">
            <a:avLst/>
          </a:prstGeom>
          <a:noFill/>
        </p:spPr>
        <p:txBody>
          <a:bodyPr wrap="square" rtlCol="0">
            <a:spAutoFit/>
          </a:bodyPr>
          <a:lstStyle/>
          <a:p>
            <a:r>
              <a:rPr lang="en-US" sz="2800" dirty="0" smtClean="0"/>
              <a:t>Partial solution:</a:t>
            </a:r>
          </a:p>
          <a:p>
            <a:endParaRPr lang="en-US" sz="2800" dirty="0">
              <a:solidFill>
                <a:srgbClr val="FF0000"/>
              </a:solidFill>
            </a:endParaRPr>
          </a:p>
          <a:p>
            <a:r>
              <a:rPr lang="en-US" sz="2800" dirty="0" smtClean="0">
                <a:solidFill>
                  <a:srgbClr val="FF0000"/>
                </a:solidFill>
              </a:rPr>
              <a:t>Predict up 4 hours ahead using machine learning algorithms (see Big Data Talk)</a:t>
            </a:r>
          </a:p>
          <a:p>
            <a:endParaRPr lang="en-US" sz="2800" dirty="0" smtClean="0">
              <a:solidFill>
                <a:srgbClr val="FF0000"/>
              </a:solidFill>
            </a:endParaRPr>
          </a:p>
          <a:p>
            <a:endParaRPr lang="en-US" sz="2800" dirty="0" smtClean="0">
              <a:solidFill>
                <a:srgbClr val="FF0000"/>
              </a:solidFill>
            </a:endParaRPr>
          </a:p>
          <a:p>
            <a:endParaRPr lang="en-US" sz="2800" dirty="0">
              <a:solidFill>
                <a:srgbClr val="FF0000"/>
              </a:solidFill>
            </a:endParaRPr>
          </a:p>
          <a:p>
            <a:endParaRPr lang="en-US" sz="2800" dirty="0" smtClean="0">
              <a:solidFill>
                <a:srgbClr val="FF0000"/>
              </a:solidFill>
            </a:endParaRPr>
          </a:p>
          <a:p>
            <a:endParaRPr lang="en-US" sz="2800" dirty="0">
              <a:solidFill>
                <a:srgbClr val="FF0000"/>
              </a:solidFill>
            </a:endParaRPr>
          </a:p>
          <a:p>
            <a:endParaRPr lang="en-US" sz="2800" dirty="0" smtClean="0">
              <a:solidFill>
                <a:srgbClr val="FF0000"/>
              </a:solidFill>
            </a:endParaRPr>
          </a:p>
          <a:p>
            <a:endParaRPr lang="en-US" sz="2800" dirty="0" smtClean="0">
              <a:solidFill>
                <a:srgbClr val="FF0000"/>
              </a:solidFill>
            </a:endParaRPr>
          </a:p>
          <a:p>
            <a:r>
              <a:rPr lang="en-US" sz="2800" dirty="0" smtClean="0">
                <a:solidFill>
                  <a:srgbClr val="000000"/>
                </a:solidFill>
              </a:rPr>
              <a:t>More complete solution</a:t>
            </a:r>
            <a:r>
              <a:rPr lang="en-US" sz="2800" dirty="0" smtClean="0">
                <a:solidFill>
                  <a:srgbClr val="0000FF"/>
                </a:solidFill>
              </a:rPr>
              <a:t>:  </a:t>
            </a:r>
          </a:p>
          <a:p>
            <a:endParaRPr lang="en-US" sz="2800" dirty="0">
              <a:solidFill>
                <a:srgbClr val="0000FF"/>
              </a:solidFill>
            </a:endParaRPr>
          </a:p>
          <a:p>
            <a:r>
              <a:rPr lang="en-US" sz="2800" dirty="0" smtClean="0">
                <a:solidFill>
                  <a:srgbClr val="0000FF"/>
                </a:solidFill>
              </a:rPr>
              <a:t>Need to understand the effects of climate change .. See future lectures.</a:t>
            </a:r>
            <a:endParaRPr lang="en-US" sz="2800" dirty="0">
              <a:solidFill>
                <a:srgbClr val="0000FF"/>
              </a:solidFill>
            </a:endParaRPr>
          </a:p>
        </p:txBody>
      </p:sp>
      <p:pic>
        <p:nvPicPr>
          <p:cNvPr id="5" name="Picture 4" descr="temp.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8278" y="2145860"/>
            <a:ext cx="6741621" cy="2714869"/>
          </a:xfrm>
          <a:prstGeom prst="rect">
            <a:avLst/>
          </a:prstGeom>
        </p:spPr>
      </p:pic>
    </p:spTree>
    <p:extLst>
      <p:ext uri="{BB962C8B-B14F-4D97-AF65-F5344CB8AC3E}">
        <p14:creationId xmlns:p14="http://schemas.microsoft.com/office/powerpoint/2010/main" val="2448933262"/>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4" name="Text Box 4"/>
          <p:cNvSpPr txBox="1">
            <a:spLocks noChangeArrowheads="1"/>
          </p:cNvSpPr>
          <p:nvPr/>
        </p:nvSpPr>
        <p:spPr bwMode="auto">
          <a:xfrm>
            <a:off x="3352800" y="143600"/>
            <a:ext cx="594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800" dirty="0">
                <a:solidFill>
                  <a:srgbClr val="0000FF"/>
                </a:solidFill>
                <a:latin typeface="Arial" charset="0"/>
                <a:cs typeface="Arial" charset="0"/>
              </a:rPr>
              <a:t>Conclusions</a:t>
            </a:r>
            <a:endParaRPr lang="en-US" sz="2800" dirty="0">
              <a:cs typeface="Arial" charset="0"/>
            </a:endParaRPr>
          </a:p>
        </p:txBody>
      </p:sp>
      <p:sp>
        <p:nvSpPr>
          <p:cNvPr id="2" name="TextBox 1"/>
          <p:cNvSpPr txBox="1"/>
          <p:nvPr/>
        </p:nvSpPr>
        <p:spPr>
          <a:xfrm>
            <a:off x="438975" y="995774"/>
            <a:ext cx="8246453" cy="6186309"/>
          </a:xfrm>
          <a:prstGeom prst="rect">
            <a:avLst/>
          </a:prstGeom>
          <a:noFill/>
        </p:spPr>
        <p:txBody>
          <a:bodyPr wrap="square" rtlCol="0">
            <a:spAutoFit/>
          </a:bodyPr>
          <a:lstStyle/>
          <a:p>
            <a:r>
              <a:rPr lang="en-GB" sz="2400" dirty="0">
                <a:solidFill>
                  <a:srgbClr val="FF0000"/>
                </a:solidFill>
              </a:rPr>
              <a:t>Energy matters to all of </a:t>
            </a:r>
            <a:r>
              <a:rPr lang="en-GB" sz="2400" dirty="0" smtClean="0">
                <a:solidFill>
                  <a:srgbClr val="FF0000"/>
                </a:solidFill>
              </a:rPr>
              <a:t>us</a:t>
            </a:r>
          </a:p>
          <a:p>
            <a:endParaRPr lang="en-GB" sz="2400" dirty="0" smtClean="0"/>
          </a:p>
          <a:p>
            <a:r>
              <a:rPr lang="en-GB" sz="2400" dirty="0" smtClean="0"/>
              <a:t>The </a:t>
            </a:r>
            <a:r>
              <a:rPr lang="en-GB" sz="2400" dirty="0"/>
              <a:t>challenge of supplying enough </a:t>
            </a:r>
            <a:r>
              <a:rPr lang="en-GB" sz="2400" dirty="0" smtClean="0"/>
              <a:t>energy </a:t>
            </a:r>
            <a:r>
              <a:rPr lang="en-GB" sz="2400" dirty="0"/>
              <a:t>in a clean and safe way, is </a:t>
            </a:r>
            <a:r>
              <a:rPr lang="en-GB" sz="2400" dirty="0">
                <a:solidFill>
                  <a:srgbClr val="3366FF"/>
                </a:solidFill>
              </a:rPr>
              <a:t>one of the greatest </a:t>
            </a:r>
            <a:r>
              <a:rPr lang="en-GB" sz="2400" dirty="0" smtClean="0">
                <a:solidFill>
                  <a:srgbClr val="3366FF"/>
                </a:solidFill>
              </a:rPr>
              <a:t>faced </a:t>
            </a:r>
            <a:r>
              <a:rPr lang="en-GB" sz="2400" dirty="0">
                <a:solidFill>
                  <a:srgbClr val="3366FF"/>
                </a:solidFill>
              </a:rPr>
              <a:t>by </a:t>
            </a:r>
            <a:r>
              <a:rPr lang="en-GB" sz="2400" dirty="0" smtClean="0">
                <a:solidFill>
                  <a:srgbClr val="3366FF"/>
                </a:solidFill>
              </a:rPr>
              <a:t>humanity</a:t>
            </a:r>
          </a:p>
          <a:p>
            <a:endParaRPr lang="en-GB" sz="2400" dirty="0">
              <a:solidFill>
                <a:srgbClr val="3366FF"/>
              </a:solidFill>
            </a:endParaRPr>
          </a:p>
          <a:p>
            <a:endParaRPr lang="en-GB" sz="2400" dirty="0" smtClean="0"/>
          </a:p>
          <a:p>
            <a:r>
              <a:rPr lang="en-GB" sz="2400" dirty="0" smtClean="0">
                <a:solidFill>
                  <a:srgbClr val="FF0000"/>
                </a:solidFill>
              </a:rPr>
              <a:t>Energy </a:t>
            </a:r>
            <a:r>
              <a:rPr lang="en-GB" sz="2400" dirty="0">
                <a:solidFill>
                  <a:srgbClr val="FF0000"/>
                </a:solidFill>
              </a:rPr>
              <a:t>supply networks are already highly sophisticated</a:t>
            </a:r>
            <a:r>
              <a:rPr lang="en-GB" sz="2400" dirty="0"/>
              <a:t>, and will get more so as the way </a:t>
            </a:r>
            <a:r>
              <a:rPr lang="en-GB" sz="2400" dirty="0" smtClean="0"/>
              <a:t>we </a:t>
            </a:r>
            <a:r>
              <a:rPr lang="en-GB" sz="2400" dirty="0"/>
              <a:t>use and supply electricity </a:t>
            </a:r>
            <a:r>
              <a:rPr lang="en-GB" sz="2400" dirty="0" smtClean="0"/>
              <a:t>changes </a:t>
            </a:r>
          </a:p>
          <a:p>
            <a:endParaRPr lang="en-GB" sz="2400" dirty="0" smtClean="0"/>
          </a:p>
          <a:p>
            <a:r>
              <a:rPr lang="en-GB" sz="2400" dirty="0" smtClean="0"/>
              <a:t>To </a:t>
            </a:r>
            <a:r>
              <a:rPr lang="en-GB" sz="2400" dirty="0"/>
              <a:t>deliver a secure supply well into the future will require </a:t>
            </a:r>
            <a:r>
              <a:rPr lang="en-GB" sz="2400" dirty="0">
                <a:solidFill>
                  <a:srgbClr val="0000FF"/>
                </a:solidFill>
              </a:rPr>
              <a:t>equally sophisticated mathematics</a:t>
            </a:r>
            <a:r>
              <a:rPr lang="en-GB" sz="2400" dirty="0" smtClean="0"/>
              <a:t>.</a:t>
            </a:r>
          </a:p>
          <a:p>
            <a:endParaRPr lang="en-GB" sz="2400" dirty="0"/>
          </a:p>
          <a:p>
            <a:r>
              <a:rPr lang="en-GB" sz="2800" dirty="0" smtClean="0"/>
              <a:t>However</a:t>
            </a:r>
            <a:r>
              <a:rPr lang="en-GB" sz="2800" dirty="0"/>
              <a:t>, </a:t>
            </a:r>
            <a:r>
              <a:rPr lang="en-GB" sz="2800" dirty="0" smtClean="0"/>
              <a:t>to </a:t>
            </a:r>
            <a:r>
              <a:rPr lang="en-GB" sz="2800" dirty="0"/>
              <a:t>keep the lights on we all need to be able to solve </a:t>
            </a:r>
            <a:r>
              <a:rPr lang="en-GB" sz="2800" dirty="0" smtClean="0">
                <a:solidFill>
                  <a:srgbClr val="FF0000"/>
                </a:solidFill>
              </a:rPr>
              <a:t>lots of</a:t>
            </a:r>
            <a:r>
              <a:rPr lang="en-GB" sz="2800" dirty="0">
                <a:solidFill>
                  <a:srgbClr val="FF0000"/>
                </a:solidFill>
              </a:rPr>
              <a:t> </a:t>
            </a:r>
            <a:r>
              <a:rPr lang="en-GB" sz="2800" dirty="0" smtClean="0">
                <a:solidFill>
                  <a:srgbClr val="FF0000"/>
                </a:solidFill>
              </a:rPr>
              <a:t>quadratic </a:t>
            </a:r>
            <a:r>
              <a:rPr lang="en-GB" sz="2800" dirty="0">
                <a:solidFill>
                  <a:srgbClr val="FF0000"/>
                </a:solidFill>
              </a:rPr>
              <a:t>equations </a:t>
            </a:r>
          </a:p>
          <a:p>
            <a:r>
              <a:rPr lang="en-GB" sz="2800" dirty="0"/>
              <a:t> </a:t>
            </a:r>
          </a:p>
          <a:p>
            <a:endParaRPr lang="en-US" sz="2400" dirty="0"/>
          </a:p>
        </p:txBody>
      </p:sp>
      <p:pic>
        <p:nvPicPr>
          <p:cNvPr id="3" name="Picture 2" descr="aHR0cDovL3d3dy5saXZlc2NpZW5jZS5jb20vaW1hZ2VzL2kvMDAwLzAwMi83NTkvb3JpZ2luYWwvMDgxMjA5LWxpZ2h0LWJ1bGItMDIuanB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6255" y="266558"/>
            <a:ext cx="1119008" cy="1492011"/>
          </a:xfrm>
          <a:prstGeom prst="rect">
            <a:avLst/>
          </a:prstGeom>
        </p:spPr>
      </p:pic>
    </p:spTree>
    <p:extLst>
      <p:ext uri="{BB962C8B-B14F-4D97-AF65-F5344CB8AC3E}">
        <p14:creationId xmlns:p14="http://schemas.microsoft.com/office/powerpoint/2010/main" val="2917338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42029</TotalTime>
  <Words>1206</Words>
  <Application>Microsoft Macintosh PowerPoint</Application>
  <PresentationFormat>On-screen Show (4:3)</PresentationFormat>
  <Paragraphs>299</Paragraphs>
  <Slides>42</Slides>
  <Notes>14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4" baseType="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Eg. Eindhoven sub-network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Combined system of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Bath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Prof. Christopher Budd</dc:creator>
  <cp:lastModifiedBy>Prof. Christopher Budd</cp:lastModifiedBy>
  <cp:revision>218</cp:revision>
  <cp:lastPrinted>2017-03-11T17:49:10Z</cp:lastPrinted>
  <dcterms:created xsi:type="dcterms:W3CDTF">2016-01-16T10:58:37Z</dcterms:created>
  <dcterms:modified xsi:type="dcterms:W3CDTF">2017-05-16T09:17:06Z</dcterms:modified>
</cp:coreProperties>
</file>